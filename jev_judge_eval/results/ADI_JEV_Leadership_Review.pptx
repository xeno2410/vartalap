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positioning: JEV is a promising alternative for bounded evaluation and structured decisions. This experiment did not test ADI answer generation, GPT-4o-mini or any SLM. Measured models: openai/gpt-4o via OpenRouter and JEV jev-1.13.0 via TypeSafe. The 35 synthetic rows were run twice per judge. Quality-label accuracy is mean binary accuracy over five metrics against designer-created labels: GPT-4o 94.6%, JEV 98.6%. Labels and JEV rubrics were designed by the same author; this can bias results. Cost and throughput ratios are calculated from the saved workbook, not vendor marketing claims. Token cost excludes infrastructure, implementation, human review and any escalation model. Use the findings to justify a pilot, not to claim general model superiority.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is between judging workflows, not between end-to-end chatbot answer models. GPT-4o generates strict JSON with metric scores and brief written reasons. JEV Score returns a distribution over rubric levels, an expected raw score and confidence, without generated reasons. The tested JEV integration submits one row with five quality questions and an optional correctness question. Routing and guardrail uses are proposed adjacent experiments, not measured benefits in this benchmark. GPT-4o-mini and an SLM may also be candidates, but no accuracy, price, latency or reliability comparison against them has been run here. An SLM deployment must include hosting, tuning and operating costs. Reference: https://docs.typesafe.ai/api.md and https://docs.typesafe.ai/primitives/score.md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these scores are not mathematically equivalent, despite sharing the 0-1 range. The GPT prompt asks for atomic claim or statement ratios, but the application does not independently extract and count claims. It accepts the model's returned judgment. Toxicity and tone use G-Eval five-point ratings normalized by (raw-1)/4. These are RAGAS-style prompts, not a run of the RAGAS library. JEV returns an expected ordinal rubric score. For four criteria indexed 0 to 3, normalized score = sum(k * probability[k]) / 3. Example: 0*.10 + 1*.20 + 2*.30 + 3*.40 = 2.00, then 2/3 = .667. The implementation normalizes the returned answer['score']; it does not use confidence as the quality score. The raw expected score can be fractional. Correctness uses three levels and divides by 2. It is separately evaluated on the 15 SME-No rows with a corrected answer. The standalone evaluators automatically give SME-Yes rows correctness 1.0; the comparison excludes those automatic credits. Product/subproduct matches and document precision/recall are deterministic ground-truth checks, not alternate model-scoring methods. Rubric and threshold calibration must be validated per metric. These scores are not established calibrated probabilities of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requested separate non-ground-truth metric comparison. It deliberately excludes answer correctness, SME agreement, product/subproduct matches and document retrieval precision/recall. Faithfulness still needs the retrieved context as evidence, but no independently corrected SME answer. Scores are means from the workbook Agreement sheet, averaged over both benchmark runs. Pass/fail agreement uses the shared .5 threshold; high toxicity is a failure. Mean score differences are descriptive and must not be interpreted as one model generating better answers; both judges scored identical ADI outputs. Different scoring mathematics can explain different numeric averages. Faithfulness had only 77.1% verdict agreement, so unsupported-claim cases are a priority for SME adjudication. Accuracy claims elsewhere in this deck do require designer labels; this table's metrics themselves do not require ground-truth reference answers.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latency, cost and throughput values come from the saved live benchmark. Aggregate rows show the mean of the two run-level statistics; the p95 is the mean of each run's p95, not a pooled p95. GPT-4o made 10 calls per run: 7 batched quality calls plus 3 separate correctness calls. JEV made 35 calls per run, one row with parallel Score questions in each request. This makes raw call latency an unequal-workload comparison. The 35-row wall time and dataset throughput are more decision-relevant, although batching and providers still differ. Zero failed calls and zero missing-score rows were observed across 20 GPT calls and 70 JEV calls. No rate-limit, outage, recovery or long-duration service test was performed. Run-to-run metrics are means across the six scored metrics, including applicable correctness rows. They measure repeatability, not correctness or calibrated confidence. Cost uses successful usage tokens at the recorded token rates; it excludes infrastructure, engineering, review and any future GPT/SME escalation. The extrapolation per 1,000 rows assumes the same input lengths, output lengths, batching and correctness mix. A future GPT-4o-mini/SLM comparison must measure total cost and the same quality gates.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leadership decision: authorize a controlled shadow-mode pilot with data-security approval. 500+ de-identified cases is a proposed pilot scope, not a claim that the current benchmark contains 500 cases or that 500 suffices for all rare risks. Use independently SME-labelled held-out cases, including difficult numerical, eligibility, multilingual and refusal examples. Separate data used to tune rubrics or thresholds from final validation. Report confidence intervals and per-metric false negatives rather than relying on one overall accuracy number. Keep high-risk cases in the GPT/SME path irrespective of confidence. JEV's confidence is not yet calibrated for ADI; the small high-confidence subsets had no errors but provide no guarantee. Validate any confidence threshold on held-out ADI cases before gating decisions. Review vendor retention, residency, access controls, contractual terms and operational availability before transmitting banking data. Maintain existing deterministic SME/document checks. GPT-4o achieved 80.0% vs JEV 73.3% band accuracy on 15 applicable correctness cases; this small difference is directional, not statistically established superiority. Keep GPT-4o for written rationale and complex adjudication during the pilot. Add GPT-4o-mini and explicitly selected hosted/self-hosted SLMs to the same held-out benchmark. Production expansion requires agreed quality, compliance and total-cost gates; answer-generation replacement requires an entirely separate experiment.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JEV: a lower-cost evaluation option for ADI</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 comparison workbook / Summary and Setup. Synthetic evidence, not a production assessment.</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01 / 06</a:t>
            </a:r>
          </a:p>
        </p:txBody>
      </p:sp>
      <p:sp>
        <p:nvSpPr>
          <p:cNvPr id="9" name="TextBox 8"/>
          <p:cNvSpPr txBox="1"/>
          <p:nvPr/>
        </p:nvSpPr>
        <p:spPr>
          <a:xfrm>
            <a:off x="530352" y="1417320"/>
            <a:ext cx="11128248" cy="685800"/>
          </a:xfrm>
          <a:prstGeom prst="rect">
            <a:avLst/>
          </a:prstGeom>
          <a:noFill/>
        </p:spPr>
        <p:txBody>
          <a:bodyPr wrap="square" lIns="0" rIns="0" tIns="0" bIns="0">
            <a:noAutofit/>
          </a:bodyPr>
          <a:lstStyle/>
          <a:p>
            <a:pPr algn="l">
              <a:spcBef>
                <a:spcPts val="0"/>
              </a:spcBef>
              <a:spcAft>
                <a:spcPts val="400"/>
              </a:spcAft>
              <a:defRPr sz="2200" b="1">
                <a:solidFill>
                  <a:srgbClr val="17212B"/>
                </a:solidFill>
                <a:latin typeface="Aptos"/>
              </a:defRPr>
            </a:pPr>
            <a:r>
              <a:t>Pilot JEV for bounded scoring and classification;</a:t>
            </a:r>
          </a:p>
          <a:p>
            <a:pPr algn="l">
              <a:spcBef>
                <a:spcPts val="0"/>
              </a:spcBef>
              <a:spcAft>
                <a:spcPts val="400"/>
              </a:spcAft>
              <a:defRPr sz="2200" b="1">
                <a:solidFill>
                  <a:srgbClr val="17212B"/>
                </a:solidFill>
                <a:latin typeface="Aptos"/>
              </a:defRPr>
            </a:pPr>
            <a:r>
              <a:t>keep GPT-4o for complex review and explanations.</a:t>
            </a:r>
          </a:p>
        </p:txBody>
      </p:sp>
      <p:sp>
        <p:nvSpPr>
          <p:cNvPr id="10" name="Rectangle 9"/>
          <p:cNvSpPr/>
          <p:nvPr/>
        </p:nvSpPr>
        <p:spPr>
          <a:xfrm>
            <a:off x="530352" y="2331720"/>
            <a:ext cx="11128248" cy="1152144"/>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441448"/>
            <a:ext cx="3291840" cy="512064"/>
          </a:xfrm>
          <a:prstGeom prst="rect">
            <a:avLst/>
          </a:prstGeom>
          <a:noFill/>
        </p:spPr>
        <p:txBody>
          <a:bodyPr wrap="square" lIns="0" rIns="0" tIns="0" bIns="0">
            <a:noAutofit/>
          </a:bodyPr>
          <a:lstStyle/>
          <a:p>
            <a:pPr algn="l">
              <a:spcBef>
                <a:spcPts val="0"/>
              </a:spcBef>
              <a:spcAft>
                <a:spcPts val="400"/>
              </a:spcAft>
              <a:defRPr sz="3400" b="1">
                <a:solidFill>
                  <a:srgbClr val="2563EB"/>
                </a:solidFill>
                <a:latin typeface="Aptos"/>
              </a:defRPr>
            </a:pPr>
            <a:r>
              <a:t>48.3x</a:t>
            </a:r>
          </a:p>
        </p:txBody>
      </p:sp>
      <p:sp>
        <p:nvSpPr>
          <p:cNvPr id="12" name="TextBox 11"/>
          <p:cNvSpPr txBox="1"/>
          <p:nvPr/>
        </p:nvSpPr>
        <p:spPr>
          <a:xfrm>
            <a:off x="749808" y="2971800"/>
            <a:ext cx="3429000" cy="228600"/>
          </a:xfrm>
          <a:prstGeom prst="rect">
            <a:avLst/>
          </a:prstGeom>
          <a:noFill/>
        </p:spPr>
        <p:txBody>
          <a:bodyPr wrap="square" lIns="0" rIns="0" tIns="0" bIns="0">
            <a:noAutofit/>
          </a:bodyPr>
          <a:lstStyle/>
          <a:p>
            <a:pPr algn="l">
              <a:spcBef>
                <a:spcPts val="0"/>
              </a:spcBef>
              <a:spcAft>
                <a:spcPts val="400"/>
              </a:spcAft>
              <a:defRPr sz="1600" b="1">
                <a:solidFill>
                  <a:srgbClr val="17212B"/>
                </a:solidFill>
                <a:latin typeface="Aptos"/>
              </a:defRPr>
            </a:pPr>
            <a:r>
              <a:t>Lower estimated token cost</a:t>
            </a:r>
          </a:p>
        </p:txBody>
      </p:sp>
      <p:sp>
        <p:nvSpPr>
          <p:cNvPr id="13" name="TextBox 12"/>
          <p:cNvSpPr txBox="1"/>
          <p:nvPr/>
        </p:nvSpPr>
        <p:spPr>
          <a:xfrm>
            <a:off x="749808" y="3246120"/>
            <a:ext cx="3429000" cy="173736"/>
          </a:xfrm>
          <a:prstGeom prst="rect">
            <a:avLst/>
          </a:prstGeom>
          <a:noFill/>
        </p:spPr>
        <p:txBody>
          <a:bodyPr wrap="square" lIns="0" rIns="0" tIns="0" bIns="0">
            <a:noAutofit/>
          </a:bodyPr>
          <a:lstStyle/>
          <a:p>
            <a:pPr algn="l">
              <a:spcBef>
                <a:spcPts val="0"/>
              </a:spcBef>
              <a:spcAft>
                <a:spcPts val="400"/>
              </a:spcAft>
              <a:defRPr sz="1150" b="0">
                <a:solidFill>
                  <a:srgbClr val="526170"/>
                </a:solidFill>
                <a:latin typeface="Aptos"/>
              </a:defRPr>
            </a:pPr>
            <a:r>
              <a:t>JEV vs GPT-4o judge</a:t>
            </a:r>
          </a:p>
        </p:txBody>
      </p:sp>
      <p:sp>
        <p:nvSpPr>
          <p:cNvPr id="14" name="TextBox 13"/>
          <p:cNvSpPr txBox="1"/>
          <p:nvPr/>
        </p:nvSpPr>
        <p:spPr>
          <a:xfrm>
            <a:off x="4443984" y="2441448"/>
            <a:ext cx="3291840" cy="512064"/>
          </a:xfrm>
          <a:prstGeom prst="rect">
            <a:avLst/>
          </a:prstGeom>
          <a:noFill/>
        </p:spPr>
        <p:txBody>
          <a:bodyPr wrap="square" lIns="0" rIns="0" tIns="0" bIns="0">
            <a:noAutofit/>
          </a:bodyPr>
          <a:lstStyle/>
          <a:p>
            <a:pPr algn="l">
              <a:spcBef>
                <a:spcPts val="0"/>
              </a:spcBef>
              <a:spcAft>
                <a:spcPts val="400"/>
              </a:spcAft>
              <a:defRPr sz="3400" b="1">
                <a:solidFill>
                  <a:srgbClr val="2563EB"/>
                </a:solidFill>
                <a:latin typeface="Aptos"/>
              </a:defRPr>
            </a:pPr>
            <a:r>
              <a:t>3.2x</a:t>
            </a:r>
          </a:p>
        </p:txBody>
      </p:sp>
      <p:sp>
        <p:nvSpPr>
          <p:cNvPr id="15" name="TextBox 14"/>
          <p:cNvSpPr txBox="1"/>
          <p:nvPr/>
        </p:nvSpPr>
        <p:spPr>
          <a:xfrm>
            <a:off x="4443984" y="2971800"/>
            <a:ext cx="3429000" cy="228600"/>
          </a:xfrm>
          <a:prstGeom prst="rect">
            <a:avLst/>
          </a:prstGeom>
          <a:noFill/>
        </p:spPr>
        <p:txBody>
          <a:bodyPr wrap="square" lIns="0" rIns="0" tIns="0" bIns="0">
            <a:noAutofit/>
          </a:bodyPr>
          <a:lstStyle/>
          <a:p>
            <a:pPr algn="l">
              <a:spcBef>
                <a:spcPts val="0"/>
              </a:spcBef>
              <a:spcAft>
                <a:spcPts val="400"/>
              </a:spcAft>
              <a:defRPr sz="1600" b="1">
                <a:solidFill>
                  <a:srgbClr val="17212B"/>
                </a:solidFill>
                <a:latin typeface="Aptos"/>
              </a:defRPr>
            </a:pPr>
            <a:r>
              <a:t>Higher dataset throughput</a:t>
            </a:r>
          </a:p>
        </p:txBody>
      </p:sp>
      <p:sp>
        <p:nvSpPr>
          <p:cNvPr id="16" name="TextBox 15"/>
          <p:cNvSpPr txBox="1"/>
          <p:nvPr/>
        </p:nvSpPr>
        <p:spPr>
          <a:xfrm>
            <a:off x="4443984" y="3246120"/>
            <a:ext cx="3429000" cy="173736"/>
          </a:xfrm>
          <a:prstGeom prst="rect">
            <a:avLst/>
          </a:prstGeom>
          <a:noFill/>
        </p:spPr>
        <p:txBody>
          <a:bodyPr wrap="square" lIns="0" rIns="0" tIns="0" bIns="0">
            <a:noAutofit/>
          </a:bodyPr>
          <a:lstStyle/>
          <a:p>
            <a:pPr algn="l">
              <a:spcBef>
                <a:spcPts val="0"/>
              </a:spcBef>
              <a:spcAft>
                <a:spcPts val="400"/>
              </a:spcAft>
              <a:defRPr sz="1150" b="0">
                <a:solidFill>
                  <a:srgbClr val="526170"/>
                </a:solidFill>
                <a:latin typeface="Aptos"/>
              </a:defRPr>
            </a:pPr>
            <a:r>
              <a:t>Same concurrency; batching differs</a:t>
            </a:r>
          </a:p>
        </p:txBody>
      </p:sp>
      <p:sp>
        <p:nvSpPr>
          <p:cNvPr id="17" name="TextBox 16"/>
          <p:cNvSpPr txBox="1"/>
          <p:nvPr/>
        </p:nvSpPr>
        <p:spPr>
          <a:xfrm>
            <a:off x="8138160" y="2441448"/>
            <a:ext cx="3291840" cy="512064"/>
          </a:xfrm>
          <a:prstGeom prst="rect">
            <a:avLst/>
          </a:prstGeom>
          <a:noFill/>
        </p:spPr>
        <p:txBody>
          <a:bodyPr wrap="square" lIns="0" rIns="0" tIns="0" bIns="0">
            <a:noAutofit/>
          </a:bodyPr>
          <a:lstStyle/>
          <a:p>
            <a:pPr algn="l">
              <a:spcBef>
                <a:spcPts val="0"/>
              </a:spcBef>
              <a:spcAft>
                <a:spcPts val="400"/>
              </a:spcAft>
              <a:defRPr sz="3400" b="1">
                <a:solidFill>
                  <a:srgbClr val="2563EB"/>
                </a:solidFill>
                <a:latin typeface="Aptos"/>
              </a:defRPr>
            </a:pPr>
            <a:r>
              <a:t>98.6%</a:t>
            </a:r>
          </a:p>
        </p:txBody>
      </p:sp>
      <p:sp>
        <p:nvSpPr>
          <p:cNvPr id="18" name="TextBox 17"/>
          <p:cNvSpPr txBox="1"/>
          <p:nvPr/>
        </p:nvSpPr>
        <p:spPr>
          <a:xfrm>
            <a:off x="8138160" y="2971800"/>
            <a:ext cx="3429000" cy="228600"/>
          </a:xfrm>
          <a:prstGeom prst="rect">
            <a:avLst/>
          </a:prstGeom>
          <a:noFill/>
        </p:spPr>
        <p:txBody>
          <a:bodyPr wrap="square" lIns="0" rIns="0" tIns="0" bIns="0">
            <a:noAutofit/>
          </a:bodyPr>
          <a:lstStyle/>
          <a:p>
            <a:pPr algn="l">
              <a:spcBef>
                <a:spcPts val="0"/>
              </a:spcBef>
              <a:spcAft>
                <a:spcPts val="400"/>
              </a:spcAft>
              <a:defRPr sz="1600" b="1">
                <a:solidFill>
                  <a:srgbClr val="17212B"/>
                </a:solidFill>
                <a:latin typeface="Aptos"/>
              </a:defRPr>
            </a:pPr>
            <a:r>
              <a:t>JEV quality-label accuracy</a:t>
            </a:r>
          </a:p>
        </p:txBody>
      </p:sp>
      <p:sp>
        <p:nvSpPr>
          <p:cNvPr id="19" name="TextBox 18"/>
          <p:cNvSpPr txBox="1"/>
          <p:nvPr/>
        </p:nvSpPr>
        <p:spPr>
          <a:xfrm>
            <a:off x="8138160" y="3246120"/>
            <a:ext cx="3429000" cy="173736"/>
          </a:xfrm>
          <a:prstGeom prst="rect">
            <a:avLst/>
          </a:prstGeom>
          <a:noFill/>
        </p:spPr>
        <p:txBody>
          <a:bodyPr wrap="square" lIns="0" rIns="0" tIns="0" bIns="0">
            <a:noAutofit/>
          </a:bodyPr>
          <a:lstStyle/>
          <a:p>
            <a:pPr algn="l">
              <a:spcBef>
                <a:spcPts val="0"/>
              </a:spcBef>
              <a:spcAft>
                <a:spcPts val="400"/>
              </a:spcAft>
              <a:defRPr sz="1150" b="0">
                <a:solidFill>
                  <a:srgbClr val="526170"/>
                </a:solidFill>
                <a:latin typeface="Aptos"/>
              </a:defRPr>
            </a:pPr>
            <a:r>
              <a:t>GPT-4o: 94.6%; designer labels</a:t>
            </a:r>
          </a:p>
        </p:txBody>
      </p:sp>
      <p:sp>
        <p:nvSpPr>
          <p:cNvPr id="20" name="TextBox 19"/>
          <p:cNvSpPr txBox="1"/>
          <p:nvPr/>
        </p:nvSpPr>
        <p:spPr>
          <a:xfrm>
            <a:off x="530352" y="3803904"/>
            <a:ext cx="5303520" cy="274320"/>
          </a:xfrm>
          <a:prstGeom prst="rect">
            <a:avLst/>
          </a:prstGeom>
          <a:noFill/>
        </p:spPr>
        <p:txBody>
          <a:bodyPr wrap="square" lIns="0" rIns="0" tIns="0" bIns="0">
            <a:noAutofit/>
          </a:bodyPr>
          <a:lstStyle/>
          <a:p>
            <a:pPr algn="l">
              <a:spcBef>
                <a:spcPts val="0"/>
              </a:spcBef>
              <a:spcAft>
                <a:spcPts val="400"/>
              </a:spcAft>
              <a:defRPr sz="1400" b="1">
                <a:solidFill>
                  <a:srgbClr val="007F78"/>
                </a:solidFill>
                <a:latin typeface="Aptos"/>
              </a:defRPr>
            </a:pPr>
            <a:r>
              <a:t>WHAT WAS TESTED</a:t>
            </a:r>
          </a:p>
        </p:txBody>
      </p:sp>
      <p:sp>
        <p:nvSpPr>
          <p:cNvPr id="21" name="TextBox 20"/>
          <p:cNvSpPr txBox="1"/>
          <p:nvPr/>
        </p:nvSpPr>
        <p:spPr>
          <a:xfrm>
            <a:off x="530352" y="4187952"/>
            <a:ext cx="5303520" cy="1325880"/>
          </a:xfrm>
          <a:prstGeom prst="rect">
            <a:avLst/>
          </a:prstGeom>
          <a:noFill/>
        </p:spPr>
        <p:txBody>
          <a:bodyPr wrap="square" lIns="0" rIns="0" tIns="0" bIns="0">
            <a:noAutofit/>
          </a:bodyPr>
          <a:lstStyle/>
          <a:p>
            <a:pPr algn="l">
              <a:spcBef>
                <a:spcPts val="0"/>
              </a:spcBef>
              <a:spcAft>
                <a:spcPts val="400"/>
              </a:spcAft>
              <a:defRPr sz="1800" b="0">
                <a:solidFill>
                  <a:srgbClr val="17212B"/>
                </a:solidFill>
                <a:latin typeface="Aptos"/>
              </a:defRPr>
            </a:pPr>
            <a:r>
              <a:t>35 synthetic ADI cases; 2 runs per judge.</a:t>
            </a:r>
          </a:p>
          <a:p>
            <a:pPr algn="l">
              <a:spcBef>
                <a:spcPts val="0"/>
              </a:spcBef>
              <a:spcAft>
                <a:spcPts val="400"/>
              </a:spcAft>
              <a:defRPr sz="1800" b="0">
                <a:solidFill>
                  <a:srgbClr val="17212B"/>
                </a:solidFill>
                <a:latin typeface="Aptos"/>
              </a:defRPr>
            </a:pPr>
            <a:r>
              <a:t>Five quality metrics + a correctness check.</a:t>
            </a:r>
          </a:p>
          <a:p>
            <a:pPr algn="l">
              <a:spcBef>
                <a:spcPts val="0"/>
              </a:spcBef>
              <a:spcAft>
                <a:spcPts val="400"/>
              </a:spcAft>
              <a:defRPr sz="1800" b="0">
                <a:solidFill>
                  <a:srgbClr val="17212B"/>
                </a:solidFill>
                <a:latin typeface="Aptos"/>
              </a:defRPr>
            </a:pPr>
            <a:r>
              <a:t>Concurrency 3; context cap 8,000 characters.</a:t>
            </a:r>
          </a:p>
        </p:txBody>
      </p:sp>
      <p:sp>
        <p:nvSpPr>
          <p:cNvPr id="22" name="TextBox 21"/>
          <p:cNvSpPr txBox="1"/>
          <p:nvPr/>
        </p:nvSpPr>
        <p:spPr>
          <a:xfrm>
            <a:off x="6291072" y="3803904"/>
            <a:ext cx="5367528" cy="274320"/>
          </a:xfrm>
          <a:prstGeom prst="rect">
            <a:avLst/>
          </a:prstGeom>
          <a:noFill/>
        </p:spPr>
        <p:txBody>
          <a:bodyPr wrap="square" lIns="0" rIns="0" tIns="0" bIns="0">
            <a:noAutofit/>
          </a:bodyPr>
          <a:lstStyle/>
          <a:p>
            <a:pPr algn="l">
              <a:spcBef>
                <a:spcPts val="0"/>
              </a:spcBef>
              <a:spcAft>
                <a:spcPts val="400"/>
              </a:spcAft>
              <a:defRPr sz="1400" b="1">
                <a:solidFill>
                  <a:srgbClr val="8A4B08"/>
                </a:solidFill>
                <a:latin typeface="Aptos"/>
              </a:defRPr>
            </a:pPr>
            <a:r>
              <a:t>WHAT IS NOT ESTABLISHED</a:t>
            </a:r>
          </a:p>
        </p:txBody>
      </p:sp>
      <p:sp>
        <p:nvSpPr>
          <p:cNvPr id="23" name="TextBox 22"/>
          <p:cNvSpPr txBox="1"/>
          <p:nvPr/>
        </p:nvSpPr>
        <p:spPr>
          <a:xfrm>
            <a:off x="6291072" y="4187952"/>
            <a:ext cx="5367528" cy="1325880"/>
          </a:xfrm>
          <a:prstGeom prst="rect">
            <a:avLst/>
          </a:prstGeom>
          <a:noFill/>
        </p:spPr>
        <p:txBody>
          <a:bodyPr wrap="square" lIns="0" rIns="0" tIns="0" bIns="0">
            <a:noAutofit/>
          </a:bodyPr>
          <a:lstStyle/>
          <a:p>
            <a:pPr algn="l">
              <a:spcBef>
                <a:spcPts val="0"/>
              </a:spcBef>
              <a:spcAft>
                <a:spcPts val="400"/>
              </a:spcAft>
              <a:defRPr sz="1800" b="0">
                <a:solidFill>
                  <a:srgbClr val="17212B"/>
                </a:solidFill>
                <a:latin typeface="Aptos"/>
              </a:defRPr>
            </a:pPr>
            <a:r>
              <a:t>GPT-4o-mini and SLMs were not tested.</a:t>
            </a:r>
          </a:p>
          <a:p>
            <a:pPr algn="l">
              <a:spcBef>
                <a:spcPts val="0"/>
              </a:spcBef>
              <a:spcAft>
                <a:spcPts val="400"/>
              </a:spcAft>
              <a:defRPr sz="1800" b="0">
                <a:solidFill>
                  <a:srgbClr val="17212B"/>
                </a:solidFill>
                <a:latin typeface="Aptos"/>
              </a:defRPr>
            </a:pPr>
            <a:r>
              <a:t>No proof of replacing answer generation.</a:t>
            </a:r>
          </a:p>
          <a:p>
            <a:pPr algn="l">
              <a:spcBef>
                <a:spcPts val="0"/>
              </a:spcBef>
              <a:spcAft>
                <a:spcPts val="400"/>
              </a:spcAft>
              <a:defRPr sz="1800" b="0">
                <a:solidFill>
                  <a:srgbClr val="17212B"/>
                </a:solidFill>
                <a:latin typeface="Aptos"/>
              </a:defRPr>
            </a:pPr>
            <a:r>
              <a:t>No production uptime or compliance validation.</a:t>
            </a:r>
          </a:p>
        </p:txBody>
      </p:sp>
      <p:sp>
        <p:nvSpPr>
          <p:cNvPr id="24" name="Rectangle 23"/>
          <p:cNvSpPr/>
          <p:nvPr/>
        </p:nvSpPr>
        <p:spPr>
          <a:xfrm>
            <a:off x="530352" y="5824728"/>
            <a:ext cx="11128248" cy="393192"/>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897880"/>
            <a:ext cx="10799064" cy="228600"/>
          </a:xfrm>
          <a:prstGeom prst="rect">
            <a:avLst/>
          </a:prstGeom>
          <a:noFill/>
        </p:spPr>
        <p:txBody>
          <a:bodyPr wrap="square" lIns="0" rIns="0" tIns="0" bIns="0">
            <a:noAutofit/>
          </a:bodyPr>
          <a:lstStyle/>
          <a:p>
            <a:pPr algn="l">
              <a:spcBef>
                <a:spcPts val="0"/>
              </a:spcBef>
              <a:spcAft>
                <a:spcPts val="400"/>
              </a:spcAft>
              <a:defRPr sz="1500" b="1">
                <a:solidFill>
                  <a:srgbClr val="8A4B08"/>
                </a:solidFill>
                <a:latin typeface="Aptos"/>
              </a:defRPr>
            </a:pPr>
            <a:r>
              <a:t>Decision requested: approve an independently labelled validation pilot, not a model replacement.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Different model roles, not just different prices</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Sources: implemented evaluator APIs and workbook Setup. GPT-4o-mini / SLM column describes options, not results.</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02 / 06</a:t>
            </a:r>
          </a:p>
        </p:txBody>
      </p:sp>
      <p:sp>
        <p:nvSpPr>
          <p:cNvPr id="9" name="TextBox 8"/>
          <p:cNvSpPr txBox="1"/>
          <p:nvPr/>
        </p:nvSpPr>
        <p:spPr>
          <a:xfrm>
            <a:off x="530352" y="1353312"/>
            <a:ext cx="11128248" cy="347472"/>
          </a:xfrm>
          <a:prstGeom prst="rect">
            <a:avLst/>
          </a:prstGeom>
          <a:noFill/>
        </p:spPr>
        <p:txBody>
          <a:bodyPr wrap="square" lIns="0" rIns="0" tIns="0" bIns="0">
            <a:noAutofit/>
          </a:bodyPr>
          <a:lstStyle/>
          <a:p>
            <a:pPr algn="l">
              <a:spcBef>
                <a:spcPts val="0"/>
              </a:spcBef>
              <a:spcAft>
                <a:spcPts val="400"/>
              </a:spcAft>
              <a:defRPr sz="1700" b="0">
                <a:solidFill>
                  <a:srgbClr val="526170"/>
                </a:solidFill>
                <a:latin typeface="Aptos"/>
              </a:defRPr>
            </a:pPr>
            <a:r>
              <a:t>JEV offers structured decisions; generative models retain broader language output and review capability.</a:t>
            </a:r>
          </a:p>
        </p:txBody>
      </p:sp>
      <p:graphicFrame>
        <p:nvGraphicFramePr>
          <p:cNvPr id="10" name="Table 9"/>
          <p:cNvGraphicFramePr>
            <a:graphicFrameLocks noGrp="1"/>
          </p:cNvGraphicFramePr>
          <p:nvPr/>
        </p:nvGraphicFramePr>
        <p:xfrm>
          <a:off x="530352" y="1856231"/>
          <a:ext cx="11128248" cy="3931920"/>
        </p:xfrm>
        <a:graphic>
          <a:graphicData uri="http://schemas.openxmlformats.org/drawingml/2006/table">
            <a:tbl>
              <a:tblPr firstRow="1" bandRow="1">
                <a:tableStyleId>{5C22544A-7EE6-4342-B048-85BDC9FD1C3A}</a:tableStyleId>
              </a:tblPr>
              <a:tblGrid>
                <a:gridCol w="1828800"/>
                <a:gridCol w="2990088"/>
                <a:gridCol w="3063240"/>
                <a:gridCol w="3246120"/>
              </a:tblGrid>
              <a:tr h="457200">
                <a:tc>
                  <a:txBody>
                    <a:bodyPr/>
                    <a:lstStyle/>
                    <a:p>
                      <a:pPr>
                        <a:spcBef>
                          <a:spcPts val="0"/>
                        </a:spcBef>
                        <a:spcAft>
                          <a:spcPts val="0"/>
                        </a:spcAft>
                        <a:defRPr sz="1600" b="1">
                          <a:solidFill>
                            <a:srgbClr val="FFFFFF"/>
                          </a:solidFill>
                          <a:latin typeface="Aptos"/>
                        </a:defRPr>
                      </a:pPr>
                      <a:r>
                        <a:t>Dimension</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GPT-4o judge</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GPT-4o-mini / SLM</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JEV</a:t>
                      </a:r>
                    </a:p>
                  </a:txBody>
                  <a:tcPr marL="118872" marR="118872" marT="45720" marB="45720" anchor="ctr">
                    <a:solidFill>
                      <a:srgbClr val="2563EB"/>
                    </a:solidFill>
                  </a:tcPr>
                </a:tc>
              </a:tr>
              <a:tr h="694944">
                <a:tc>
                  <a:txBody>
                    <a:bodyPr/>
                    <a:lstStyle/>
                    <a:p>
                      <a:pPr>
                        <a:spcBef>
                          <a:spcPts val="0"/>
                        </a:spcBef>
                        <a:spcAft>
                          <a:spcPts val="0"/>
                        </a:spcAft>
                        <a:defRPr sz="1600" b="1">
                          <a:solidFill>
                            <a:srgbClr val="17212B"/>
                          </a:solidFill>
                          <a:latin typeface="Aptos"/>
                        </a:defRPr>
                      </a:pPr>
                      <a:r>
                        <a:t>Core approach</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Generates JSON scores</a:t>
                      </a:r>
                    </a:p>
                    <a:p>
                      <a:pPr>
                        <a:spcBef>
                          <a:spcPts val="0"/>
                        </a:spcBef>
                        <a:spcAft>
                          <a:spcPts val="0"/>
                        </a:spcAft>
                        <a:defRPr sz="1600" b="0">
                          <a:solidFill>
                            <a:srgbClr val="17212B"/>
                          </a:solidFill>
                          <a:latin typeface="Aptos"/>
                        </a:defRPr>
                      </a:pPr>
                      <a:r>
                        <a:t>and written reasons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Generative judging; SLM</a:t>
                      </a:r>
                    </a:p>
                    <a:p>
                      <a:pPr>
                        <a:spcBef>
                          <a:spcPts val="0"/>
                        </a:spcBef>
                        <a:spcAft>
                          <a:spcPts val="0"/>
                        </a:spcAft>
                        <a:defRPr sz="1600" b="0">
                          <a:solidFill>
                            <a:srgbClr val="17212B"/>
                          </a:solidFill>
                          <a:latin typeface="Aptos"/>
                        </a:defRPr>
                      </a:pPr>
                      <a:r>
                        <a:t>depends on chosen model</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Typed Score decisions;</a:t>
                      </a:r>
                    </a:p>
                    <a:p>
                      <a:pPr>
                        <a:spcBef>
                          <a:spcPts val="0"/>
                        </a:spcBef>
                        <a:spcAft>
                          <a:spcPts val="0"/>
                        </a:spcAft>
                        <a:defRPr sz="1600" b="0">
                          <a:solidFill>
                            <a:srgbClr val="17212B"/>
                          </a:solidFill>
                          <a:latin typeface="Aptos"/>
                        </a:defRPr>
                      </a:pPr>
                      <a:r>
                        <a:t>probabilities + confidence</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Integration</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Prompt + query, answer</a:t>
                      </a:r>
                    </a:p>
                    <a:p>
                      <a:pPr>
                        <a:spcBef>
                          <a:spcPts val="0"/>
                        </a:spcBef>
                        <a:spcAft>
                          <a:spcPts val="0"/>
                        </a:spcAft>
                        <a:defRPr sz="1600" b="0">
                          <a:solidFill>
                            <a:srgbClr val="17212B"/>
                          </a:solidFill>
                          <a:latin typeface="Aptos"/>
                        </a:defRPr>
                      </a:pPr>
                      <a:r>
                        <a:t>and retrieved context</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Prompt / tuning;</a:t>
                      </a:r>
                    </a:p>
                    <a:p>
                      <a:pPr>
                        <a:spcBef>
                          <a:spcPts val="0"/>
                        </a:spcBef>
                        <a:spcAft>
                          <a:spcPts val="0"/>
                        </a:spcAft>
                        <a:defRPr sz="1600" b="0">
                          <a:solidFill>
                            <a:srgbClr val="17212B"/>
                          </a:solidFill>
                          <a:latin typeface="Aptos"/>
                        </a:defRPr>
                      </a:pPr>
                      <a:r>
                        <a:t>validation required</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State + rubric questions;</a:t>
                      </a:r>
                    </a:p>
                    <a:p>
                      <a:pPr>
                        <a:spcBef>
                          <a:spcPts val="0"/>
                        </a:spcBef>
                        <a:spcAft>
                          <a:spcPts val="0"/>
                        </a:spcAft>
                        <a:defRPr sz="1600" b="0">
                          <a:solidFill>
                            <a:srgbClr val="17212B"/>
                          </a:solidFill>
                          <a:latin typeface="Aptos"/>
                        </a:defRPr>
                      </a:pPr>
                      <a:r>
                        <a:t>5 quality metrics per call</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Best-fit role</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Complex review;</a:t>
                      </a:r>
                    </a:p>
                    <a:p>
                      <a:pPr>
                        <a:spcBef>
                          <a:spcPts val="0"/>
                        </a:spcBef>
                        <a:spcAft>
                          <a:spcPts val="0"/>
                        </a:spcAft>
                        <a:defRPr sz="1600" b="0">
                          <a:solidFill>
                            <a:srgbClr val="17212B"/>
                          </a:solidFill>
                          <a:latin typeface="Aptos"/>
                        </a:defRPr>
                      </a:pPr>
                      <a:r>
                        <a:t>explanations; escalation</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Candidate low-cost judge</a:t>
                      </a:r>
                    </a:p>
                    <a:p>
                      <a:pPr>
                        <a:spcBef>
                          <a:spcPts val="0"/>
                        </a:spcBef>
                        <a:spcAft>
                          <a:spcPts val="0"/>
                        </a:spcAft>
                        <a:defRPr sz="1600" b="0">
                          <a:solidFill>
                            <a:srgbClr val="17212B"/>
                          </a:solidFill>
                          <a:latin typeface="Aptos"/>
                        </a:defRPr>
                      </a:pPr>
                      <a:r>
                        <a:t>or answer-generation model</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Routine scoring; guardrail /</a:t>
                      </a:r>
                    </a:p>
                    <a:p>
                      <a:pPr>
                        <a:spcBef>
                          <a:spcPts val="0"/>
                        </a:spcBef>
                        <a:spcAft>
                          <a:spcPts val="0"/>
                        </a:spcAft>
                        <a:defRPr sz="1600" b="0">
                          <a:solidFill>
                            <a:srgbClr val="17212B"/>
                          </a:solidFill>
                          <a:latin typeface="Aptos"/>
                        </a:defRPr>
                      </a:pPr>
                      <a:r>
                        <a:t>routing candidates to test</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Trade-off</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Flexible; explanation cost;</a:t>
                      </a:r>
                    </a:p>
                    <a:p>
                      <a:pPr>
                        <a:spcBef>
                          <a:spcPts val="0"/>
                        </a:spcBef>
                        <a:spcAft>
                          <a:spcPts val="0"/>
                        </a:spcAft>
                        <a:defRPr sz="1600" b="0">
                          <a:solidFill>
                            <a:srgbClr val="17212B"/>
                          </a:solidFill>
                          <a:latin typeface="Aptos"/>
                        </a:defRPr>
                      </a:pPr>
                      <a:r>
                        <a:t>prompt / parsing sensitivity</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Quality and cost depend on</a:t>
                      </a:r>
                    </a:p>
                    <a:p>
                      <a:pPr>
                        <a:spcBef>
                          <a:spcPts val="0"/>
                        </a:spcBef>
                        <a:spcAft>
                          <a:spcPts val="0"/>
                        </a:spcAft>
                        <a:defRPr sz="1600" b="0">
                          <a:solidFill>
                            <a:srgbClr val="17212B"/>
                          </a:solidFill>
                          <a:latin typeface="Aptos"/>
                        </a:defRPr>
                      </a:pPr>
                      <a:r>
                        <a:t>model, hosting and tuning</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No generated rationale;</a:t>
                      </a:r>
                    </a:p>
                    <a:p>
                      <a:pPr>
                        <a:spcBef>
                          <a:spcPts val="0"/>
                        </a:spcBef>
                        <a:spcAft>
                          <a:spcPts val="0"/>
                        </a:spcAft>
                        <a:defRPr sz="1600" b="0">
                          <a:solidFill>
                            <a:srgbClr val="17212B"/>
                          </a:solidFill>
                          <a:latin typeface="Aptos"/>
                        </a:defRPr>
                      </a:pPr>
                      <a:r>
                        <a:t>rubric / threshold sensitivity</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Evidence today</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35 cases x 2 runs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Not benchmarked;</a:t>
                      </a:r>
                    </a:p>
                    <a:p>
                      <a:pPr>
                        <a:spcBef>
                          <a:spcPts val="0"/>
                        </a:spcBef>
                        <a:spcAft>
                          <a:spcPts val="0"/>
                        </a:spcAft>
                        <a:defRPr sz="1600" b="0">
                          <a:solidFill>
                            <a:srgbClr val="17212B"/>
                          </a:solidFill>
                          <a:latin typeface="Aptos"/>
                        </a:defRPr>
                      </a:pPr>
                      <a:r>
                        <a:t>no ranking supported</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35 cases x 2 runs;</a:t>
                      </a:r>
                    </a:p>
                    <a:p>
                      <a:pPr>
                        <a:spcBef>
                          <a:spcPts val="0"/>
                        </a:spcBef>
                        <a:spcAft>
                          <a:spcPts val="0"/>
                        </a:spcAft>
                        <a:defRPr sz="1600" b="0">
                          <a:solidFill>
                            <a:srgbClr val="17212B"/>
                          </a:solidFill>
                          <a:latin typeface="Aptos"/>
                        </a:defRPr>
                      </a:pPr>
                      <a:r>
                        <a:t>model jev-1.13.0</a:t>
                      </a:r>
                    </a:p>
                  </a:txBody>
                  <a:tcPr marL="118872" marR="118872" marT="45720" marB="45720" anchor="ctr">
                    <a:solidFill>
                      <a:srgbClr val="EDF8F5"/>
                    </a:solidFill>
                  </a:tcPr>
                </a:tc>
              </a:tr>
            </a:tbl>
          </a:graphicData>
        </a:graphic>
      </p:graphicFrame>
      <p:sp>
        <p:nvSpPr>
          <p:cNvPr id="11" name="TextBox 10"/>
          <p:cNvSpPr txBox="1"/>
          <p:nvPr/>
        </p:nvSpPr>
        <p:spPr>
          <a:xfrm>
            <a:off x="530352" y="5971032"/>
            <a:ext cx="11128248" cy="274320"/>
          </a:xfrm>
          <a:prstGeom prst="rect">
            <a:avLst/>
          </a:prstGeom>
          <a:noFill/>
        </p:spPr>
        <p:txBody>
          <a:bodyPr wrap="square" lIns="0" rIns="0" tIns="0" bIns="0">
            <a:noAutofit/>
          </a:bodyPr>
          <a:lstStyle/>
          <a:p>
            <a:pPr algn="l">
              <a:spcBef>
                <a:spcPts val="0"/>
              </a:spcBef>
              <a:spcAft>
                <a:spcPts val="400"/>
              </a:spcAft>
              <a:defRPr sz="1300" b="0">
                <a:solidFill>
                  <a:srgbClr val="526170"/>
                </a:solidFill>
                <a:latin typeface="Aptos"/>
              </a:defRPr>
            </a:pPr>
            <a:r>
              <a:t>SLM = small language model, not one specific model. Select the model and deployment before comparing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Same 0-1 range, different scoring mathematics</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Sources: adi_gt_evaluator.py metric prompts; jev_judge.py rubrics and score normalization.</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03 / 06</a:t>
            </a:r>
          </a:p>
        </p:txBody>
      </p:sp>
      <p:sp>
        <p:nvSpPr>
          <p:cNvPr id="9" name="TextBox 8"/>
          <p:cNvSpPr txBox="1"/>
          <p:nvPr/>
        </p:nvSpPr>
        <p:spPr>
          <a:xfrm>
            <a:off x="530352" y="1353312"/>
            <a:ext cx="11128248" cy="274320"/>
          </a:xfrm>
          <a:prstGeom prst="rect">
            <a:avLst/>
          </a:prstGeom>
          <a:noFill/>
        </p:spPr>
        <p:txBody>
          <a:bodyPr wrap="square" lIns="0" rIns="0" tIns="0" bIns="0">
            <a:noAutofit/>
          </a:bodyPr>
          <a:lstStyle/>
          <a:p>
            <a:pPr algn="l">
              <a:spcBef>
                <a:spcPts val="0"/>
              </a:spcBef>
              <a:spcAft>
                <a:spcPts val="400"/>
              </a:spcAft>
              <a:defRPr sz="1600" b="0">
                <a:solidFill>
                  <a:srgbClr val="526170"/>
                </a:solidFill>
                <a:latin typeface="Aptos"/>
              </a:defRPr>
            </a:pPr>
            <a:r>
              <a:t>Quality metrics use the query, answer and context. Correctness additionally needs the SME's corrected answer.</a:t>
            </a:r>
          </a:p>
        </p:txBody>
      </p:sp>
      <p:graphicFrame>
        <p:nvGraphicFramePr>
          <p:cNvPr id="10" name="Table 9"/>
          <p:cNvGraphicFramePr>
            <a:graphicFrameLocks noGrp="1"/>
          </p:cNvGraphicFramePr>
          <p:nvPr/>
        </p:nvGraphicFramePr>
        <p:xfrm>
          <a:off x="530352" y="1810512"/>
          <a:ext cx="11128248" cy="3931920"/>
        </p:xfrm>
        <a:graphic>
          <a:graphicData uri="http://schemas.openxmlformats.org/drawingml/2006/table">
            <a:tbl>
              <a:tblPr firstRow="1" bandRow="1">
                <a:tableStyleId>{5C22544A-7EE6-4342-B048-85BDC9FD1C3A}</a:tableStyleId>
              </a:tblPr>
              <a:tblGrid>
                <a:gridCol w="2103120"/>
                <a:gridCol w="4681728"/>
                <a:gridCol w="4343400"/>
              </a:tblGrid>
              <a:tr h="420624">
                <a:tc>
                  <a:txBody>
                    <a:bodyPr/>
                    <a:lstStyle/>
                    <a:p>
                      <a:pPr>
                        <a:spcBef>
                          <a:spcPts val="0"/>
                        </a:spcBef>
                        <a:spcAft>
                          <a:spcPts val="0"/>
                        </a:spcAft>
                        <a:defRPr sz="1600" b="1">
                          <a:solidFill>
                            <a:srgbClr val="FFFFFF"/>
                          </a:solidFill>
                          <a:latin typeface="Aptos"/>
                        </a:defRPr>
                      </a:pPr>
                      <a:r>
                        <a:t>Metric</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GPT-4o: prompt-directed scoring</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JEV: probabilistic rubric scoring</a:t>
                      </a:r>
                    </a:p>
                  </a:txBody>
                  <a:tcPr marL="118872" marR="118872" marT="45720" marB="45720" anchor="ctr">
                    <a:solidFill>
                      <a:srgbClr val="2563EB"/>
                    </a:solidFill>
                  </a:tcPr>
                </a:tc>
              </a:tr>
              <a:tr h="585216">
                <a:tc>
                  <a:txBody>
                    <a:bodyPr/>
                    <a:lstStyle/>
                    <a:p>
                      <a:pPr>
                        <a:spcBef>
                          <a:spcPts val="0"/>
                        </a:spcBef>
                        <a:spcAft>
                          <a:spcPts val="0"/>
                        </a:spcAft>
                        <a:defRPr sz="1600" b="1">
                          <a:solidFill>
                            <a:srgbClr val="17212B"/>
                          </a:solidFill>
                          <a:latin typeface="Aptos"/>
                        </a:defRPr>
                      </a:pPr>
                      <a:r>
                        <a:t>Faithfulness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Supported atomic claims / all factual claims.</a:t>
                      </a:r>
                    </a:p>
                    <a:p>
                      <a:pPr>
                        <a:spcBef>
                          <a:spcPts val="0"/>
                        </a:spcBef>
                        <a:spcAft>
                          <a:spcPts val="0"/>
                        </a:spcAft>
                        <a:defRPr sz="1600" b="0">
                          <a:solidFill>
                            <a:srgbClr val="17212B"/>
                          </a:solidFill>
                          <a:latin typeface="Aptos"/>
                        </a:defRPr>
                      </a:pPr>
                      <a:r>
                        <a:t>No factual claims -&gt; 1.0.</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4 support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Answer relevance</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On-topic response statements /</a:t>
                      </a:r>
                    </a:p>
                    <a:p>
                      <a:pPr>
                        <a:spcBef>
                          <a:spcPts val="0"/>
                        </a:spcBef>
                        <a:spcAft>
                          <a:spcPts val="0"/>
                        </a:spcAft>
                        <a:defRPr sz="1600" b="0">
                          <a:solidFill>
                            <a:srgbClr val="17212B"/>
                          </a:solidFill>
                          <a:latin typeface="Aptos"/>
                        </a:defRPr>
                      </a:pPr>
                      <a:r>
                        <a:t>all response statements; ignore accuracy.</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4 on-topic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Context relevance</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Relevant retrieved-context statements /</a:t>
                      </a:r>
                    </a:p>
                    <a:p>
                      <a:pPr>
                        <a:spcBef>
                          <a:spcPts val="0"/>
                        </a:spcBef>
                        <a:spcAft>
                          <a:spcPts val="0"/>
                        </a:spcAft>
                        <a:defRPr sz="1600" b="0">
                          <a:solidFill>
                            <a:srgbClr val="17212B"/>
                          </a:solidFill>
                          <a:latin typeface="Aptos"/>
                        </a:defRPr>
                      </a:pPr>
                      <a:r>
                        <a:t>all retrieved-context statements.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4 retrieval-relevance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Toxicity</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G-Eval raw 1-5 -&gt; (raw - 1) / 4.</a:t>
                      </a:r>
                    </a:p>
                    <a:p>
                      <a:pPr>
                        <a:spcBef>
                          <a:spcPts val="0"/>
                        </a:spcBef>
                        <a:spcAft>
                          <a:spcPts val="0"/>
                        </a:spcAft>
                        <a:defRPr sz="1600" b="0">
                          <a:solidFill>
                            <a:srgbClr val="17212B"/>
                          </a:solidFill>
                          <a:latin typeface="Aptos"/>
                        </a:defRPr>
                      </a:pPr>
                      <a:r>
                        <a:t>Lower = safer.</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4 severity levels (0-3);</a:t>
                      </a:r>
                    </a:p>
                    <a:p>
                      <a:pPr>
                        <a:spcBef>
                          <a:spcPts val="0"/>
                        </a:spcBef>
                        <a:spcAft>
                          <a:spcPts val="0"/>
                        </a:spcAft>
                        <a:defRPr sz="1600" b="0">
                          <a:solidFill>
                            <a:srgbClr val="17212B"/>
                          </a:solidFill>
                          <a:latin typeface="Aptos"/>
                        </a:defRPr>
                      </a:pPr>
                      <a:r>
                        <a:t>expected level / 3; lower = safer.</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Tone</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G-Eval raw 1-5 -&gt; (raw - 1) / 4.</a:t>
                      </a:r>
                    </a:p>
                    <a:p>
                      <a:pPr>
                        <a:spcBef>
                          <a:spcPts val="0"/>
                        </a:spcBef>
                        <a:spcAft>
                          <a:spcPts val="0"/>
                        </a:spcAft>
                        <a:defRPr sz="1600" b="0">
                          <a:solidFill>
                            <a:srgbClr val="17212B"/>
                          </a:solidFill>
                          <a:latin typeface="Aptos"/>
                        </a:defRPr>
                      </a:pPr>
                      <a:r>
                        <a:t>Higher = more professional.</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4 professional-tone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Correctness</a:t>
                      </a:r>
                    </a:p>
                    <a:p>
                      <a:pPr>
                        <a:spcBef>
                          <a:spcPts val="0"/>
                        </a:spcBef>
                        <a:spcAft>
                          <a:spcPts val="0"/>
                        </a:spcAft>
                        <a:defRPr sz="1600" b="1">
                          <a:solidFill>
                            <a:srgbClr val="17212B"/>
                          </a:solidFill>
                          <a:latin typeface="Aptos"/>
                        </a:defRPr>
                      </a:pPr>
                      <a:r>
                        <a:t>(GT required)</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Semantic match to SME correction;</a:t>
                      </a:r>
                    </a:p>
                    <a:p>
                      <a:pPr>
                        <a:spcBef>
                          <a:spcPts val="0"/>
                        </a:spcBef>
                        <a:spcAft>
                          <a:spcPts val="0"/>
                        </a:spcAft>
                        <a:defRPr sz="1600" b="0">
                          <a:solidFill>
                            <a:srgbClr val="17212B"/>
                          </a:solidFill>
                          <a:latin typeface="Aptos"/>
                        </a:defRPr>
                      </a:pPr>
                      <a:r>
                        <a:t>0 / 0.5 / 1 on applicable rows.</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3 semantic-match levels (0-2);</a:t>
                      </a:r>
                    </a:p>
                    <a:p>
                      <a:pPr>
                        <a:spcBef>
                          <a:spcPts val="0"/>
                        </a:spcBef>
                        <a:spcAft>
                          <a:spcPts val="0"/>
                        </a:spcAft>
                        <a:defRPr sz="1600" b="0">
                          <a:solidFill>
                            <a:srgbClr val="17212B"/>
                          </a:solidFill>
                          <a:latin typeface="Aptos"/>
                        </a:defRPr>
                      </a:pPr>
                      <a:r>
                        <a:t>expected level / 2 on applicable rows.</a:t>
                      </a:r>
                    </a:p>
                  </a:txBody>
                  <a:tcPr marL="118872" marR="118872" marT="45720" marB="45720" anchor="ctr">
                    <a:solidFill>
                      <a:srgbClr val="EDF8F5"/>
                    </a:solidFill>
                  </a:tcPr>
                </a:tc>
              </a:tr>
            </a:tbl>
          </a:graphicData>
        </a:graphic>
      </p:graphicFrame>
      <p:sp>
        <p:nvSpPr>
          <p:cNvPr id="11" name="TextBox 10"/>
          <p:cNvSpPr txBox="1"/>
          <p:nvPr/>
        </p:nvSpPr>
        <p:spPr>
          <a:xfrm>
            <a:off x="530352" y="5861304"/>
            <a:ext cx="11128248" cy="237744"/>
          </a:xfrm>
          <a:prstGeom prst="rect">
            <a:avLst/>
          </a:prstGeom>
          <a:noFill/>
        </p:spPr>
        <p:txBody>
          <a:bodyPr wrap="square" lIns="0" rIns="0" tIns="0" bIns="0">
            <a:noAutofit/>
          </a:bodyPr>
          <a:lstStyle/>
          <a:p>
            <a:pPr algn="l">
              <a:spcBef>
                <a:spcPts val="0"/>
              </a:spcBef>
              <a:spcAft>
                <a:spcPts val="400"/>
              </a:spcAft>
              <a:defRPr sz="1400" b="1">
                <a:solidFill>
                  <a:srgbClr val="007F78"/>
                </a:solidFill>
                <a:latin typeface="Aptos"/>
              </a:defRPr>
            </a:pPr>
            <a:r>
              <a:t>JEV raw = sum(level x probability). Example: [0.10, 0.20, 0.30, 0.40] -&gt; 2.00 / 3 = 0.667.</a:t>
            </a:r>
          </a:p>
        </p:txBody>
      </p:sp>
      <p:sp>
        <p:nvSpPr>
          <p:cNvPr id="12" name="TextBox 11"/>
          <p:cNvSpPr txBox="1"/>
          <p:nvPr/>
        </p:nvSpPr>
        <p:spPr>
          <a:xfrm>
            <a:off x="530352" y="6153912"/>
            <a:ext cx="11128248" cy="192024"/>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GPT ratios are model estimates, not independently counted claims. JEV confidence is separate from the score.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Five quality metrics without ground-truth answers</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 comparison workbook / Agreement. Means and verdict agreement averaged over 2 runs, 35 cases each.</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04 / 06</a:t>
            </a:r>
          </a:p>
        </p:txBody>
      </p:sp>
      <p:sp>
        <p:nvSpPr>
          <p:cNvPr id="9" name="TextBox 8"/>
          <p:cNvSpPr txBox="1"/>
          <p:nvPr/>
        </p:nvSpPr>
        <p:spPr>
          <a:xfrm>
            <a:off x="530352" y="1353312"/>
            <a:ext cx="11128248" cy="274320"/>
          </a:xfrm>
          <a:prstGeom prst="rect">
            <a:avLst/>
          </a:prstGeom>
          <a:noFill/>
        </p:spPr>
        <p:txBody>
          <a:bodyPr wrap="square" lIns="0" rIns="0" tIns="0" bIns="0">
            <a:noAutofit/>
          </a:bodyPr>
          <a:lstStyle/>
          <a:p>
            <a:pPr algn="l">
              <a:spcBef>
                <a:spcPts val="0"/>
              </a:spcBef>
              <a:spcAft>
                <a:spcPts val="400"/>
              </a:spcAft>
              <a:defRPr sz="1700" b="0">
                <a:solidFill>
                  <a:srgbClr val="526170"/>
                </a:solidFill>
                <a:latin typeface="Aptos"/>
              </a:defRPr>
            </a:pPr>
            <a:r>
              <a:t>These metrics need no SME reference answer. Inter-judge agreement is not a measure of accuracy.</a:t>
            </a:r>
          </a:p>
        </p:txBody>
      </p:sp>
      <p:graphicFrame>
        <p:nvGraphicFramePr>
          <p:cNvPr id="10" name="Table 9"/>
          <p:cNvGraphicFramePr>
            <a:graphicFrameLocks noGrp="1"/>
          </p:cNvGraphicFramePr>
          <p:nvPr/>
        </p:nvGraphicFramePr>
        <p:xfrm>
          <a:off x="530352" y="1883664"/>
          <a:ext cx="11128248" cy="3291840"/>
        </p:xfrm>
        <a:graphic>
          <a:graphicData uri="http://schemas.openxmlformats.org/drawingml/2006/table">
            <a:tbl>
              <a:tblPr firstRow="1" bandRow="1">
                <a:tableStyleId>{5C22544A-7EE6-4342-B048-85BDC9FD1C3A}</a:tableStyleId>
              </a:tblPr>
              <a:tblGrid>
                <a:gridCol w="2468880"/>
                <a:gridCol w="1252728"/>
                <a:gridCol w="2057400"/>
                <a:gridCol w="2057400"/>
                <a:gridCol w="3291840"/>
              </a:tblGrid>
              <a:tr h="502920">
                <a:tc>
                  <a:txBody>
                    <a:bodyPr/>
                    <a:lstStyle/>
                    <a:p>
                      <a:pPr>
                        <a:spcBef>
                          <a:spcPts val="0"/>
                        </a:spcBef>
                        <a:spcAft>
                          <a:spcPts val="0"/>
                        </a:spcAft>
                        <a:defRPr sz="1700" b="1">
                          <a:solidFill>
                            <a:srgbClr val="FFFFFF"/>
                          </a:solidFill>
                          <a:latin typeface="Aptos"/>
                        </a:defRPr>
                      </a:pPr>
                      <a:r>
                        <a:t>Quality metric</a:t>
                      </a:r>
                    </a:p>
                  </a:txBody>
                  <a:tcPr marL="118872" marR="118872" marT="45720" marB="45720" anchor="ctr">
                    <a:solidFill>
                      <a:srgbClr val="2563EB"/>
                    </a:solidFill>
                  </a:tcPr>
                </a:tc>
                <a:tc>
                  <a:txBody>
                    <a:bodyPr/>
                    <a:lstStyle/>
                    <a:p>
                      <a:pPr>
                        <a:spcBef>
                          <a:spcPts val="0"/>
                        </a:spcBef>
                        <a:spcAft>
                          <a:spcPts val="0"/>
                        </a:spcAft>
                        <a:defRPr sz="1700" b="1">
                          <a:solidFill>
                            <a:srgbClr val="FFFFFF"/>
                          </a:solidFill>
                          <a:latin typeface="Aptos"/>
                        </a:defRPr>
                      </a:pPr>
                      <a:r>
                        <a:t>Better</a:t>
                      </a:r>
                    </a:p>
                  </a:txBody>
                  <a:tcPr marL="118872" marR="118872" marT="45720" marB="45720" anchor="ctr">
                    <a:solidFill>
                      <a:srgbClr val="2563EB"/>
                    </a:solidFill>
                  </a:tcPr>
                </a:tc>
                <a:tc>
                  <a:txBody>
                    <a:bodyPr/>
                    <a:lstStyle/>
                    <a:p>
                      <a:pPr algn="ctr">
                        <a:spcBef>
                          <a:spcPts val="0"/>
                        </a:spcBef>
                        <a:spcAft>
                          <a:spcPts val="0"/>
                        </a:spcAft>
                        <a:defRPr sz="1700" b="1">
                          <a:solidFill>
                            <a:srgbClr val="FFFFFF"/>
                          </a:solidFill>
                          <a:latin typeface="Aptos"/>
                        </a:defRPr>
                      </a:pPr>
                      <a:r>
                        <a:t>GPT-4o mean</a:t>
                      </a:r>
                    </a:p>
                  </a:txBody>
                  <a:tcPr marL="118872" marR="118872" marT="45720" marB="45720" anchor="ctr">
                    <a:solidFill>
                      <a:srgbClr val="2563EB"/>
                    </a:solidFill>
                  </a:tcPr>
                </a:tc>
                <a:tc>
                  <a:txBody>
                    <a:bodyPr/>
                    <a:lstStyle/>
                    <a:p>
                      <a:pPr algn="ctr">
                        <a:spcBef>
                          <a:spcPts val="0"/>
                        </a:spcBef>
                        <a:spcAft>
                          <a:spcPts val="0"/>
                        </a:spcAft>
                        <a:defRPr sz="1700" b="1">
                          <a:solidFill>
                            <a:srgbClr val="FFFFFF"/>
                          </a:solidFill>
                          <a:latin typeface="Aptos"/>
                        </a:defRPr>
                      </a:pPr>
                      <a:r>
                        <a:t>JEV mean</a:t>
                      </a:r>
                    </a:p>
                  </a:txBody>
                  <a:tcPr marL="118872" marR="118872" marT="45720" marB="45720" anchor="ctr">
                    <a:solidFill>
                      <a:srgbClr val="2563EB"/>
                    </a:solidFill>
                  </a:tcPr>
                </a:tc>
                <a:tc>
                  <a:txBody>
                    <a:bodyPr/>
                    <a:lstStyle/>
                    <a:p>
                      <a:pPr algn="ctr">
                        <a:spcBef>
                          <a:spcPts val="0"/>
                        </a:spcBef>
                        <a:spcAft>
                          <a:spcPts val="0"/>
                        </a:spcAft>
                        <a:defRPr sz="1700" b="1">
                          <a:solidFill>
                            <a:srgbClr val="FFFFFF"/>
                          </a:solidFill>
                          <a:latin typeface="Aptos"/>
                        </a:defRPr>
                      </a:pPr>
                      <a:r>
                        <a:t>Pass/fail agreement</a:t>
                      </a:r>
                    </a:p>
                  </a:txBody>
                  <a:tcPr marL="118872" marR="118872" marT="45720" marB="45720" anchor="ctr">
                    <a:solidFill>
                      <a:srgbClr val="2563EB"/>
                    </a:solidFill>
                  </a:tcPr>
                </a:tc>
              </a:tr>
              <a:tr h="557784">
                <a:tc>
                  <a:txBody>
                    <a:bodyPr/>
                    <a:lstStyle/>
                    <a:p>
                      <a:pPr>
                        <a:spcBef>
                          <a:spcPts val="0"/>
                        </a:spcBef>
                        <a:spcAft>
                          <a:spcPts val="0"/>
                        </a:spcAft>
                        <a:defRPr sz="1700" b="1">
                          <a:solidFill>
                            <a:srgbClr val="17212B"/>
                          </a:solidFill>
                          <a:latin typeface="Aptos"/>
                        </a:defRPr>
                      </a:pPr>
                      <a:r>
                        <a:t>Faithfulness</a:t>
                      </a:r>
                    </a:p>
                  </a:txBody>
                  <a:tcPr marL="118872" marR="118872" marT="45720" marB="45720" anchor="ctr">
                    <a:solidFill>
                      <a:srgbClr val="FFFFFF"/>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0.7343</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0.6853</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77.1%</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Answer relevance</a:t>
                      </a:r>
                    </a:p>
                  </a:txBody>
                  <a:tcPr marL="118872" marR="118872" marT="45720" marB="45720" anchor="ctr">
                    <a:solidFill>
                      <a:srgbClr val="F4F6F8"/>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0.9429</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0.8929</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100.0%</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Context relevance</a:t>
                      </a:r>
                    </a:p>
                  </a:txBody>
                  <a:tcPr marL="118872" marR="118872" marT="45720" marB="45720" anchor="ctr">
                    <a:solidFill>
                      <a:srgbClr val="FFFFFF"/>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0.8714</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0.8302</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100.0%</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Toxicity</a:t>
                      </a:r>
                    </a:p>
                  </a:txBody>
                  <a:tcPr marL="118872" marR="118872" marT="45720" marB="45720" anchor="ctr">
                    <a:solidFill>
                      <a:srgbClr val="F4F6F8"/>
                    </a:solidFill>
                  </a:tcPr>
                </a:tc>
                <a:tc>
                  <a:txBody>
                    <a:bodyPr/>
                    <a:lstStyle/>
                    <a:p>
                      <a:pPr>
                        <a:spcBef>
                          <a:spcPts val="0"/>
                        </a:spcBef>
                        <a:spcAft>
                          <a:spcPts val="0"/>
                        </a:spcAft>
                        <a:defRPr sz="1700" b="0">
                          <a:solidFill>
                            <a:srgbClr val="17212B"/>
                          </a:solidFill>
                          <a:latin typeface="Aptos"/>
                        </a:defRPr>
                      </a:pPr>
                      <a:r>
                        <a:t>Lower</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0.0571</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0.0376</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97.1%</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Tone appropriateness</a:t>
                      </a:r>
                    </a:p>
                  </a:txBody>
                  <a:tcPr marL="118872" marR="118872" marT="45720" marB="45720" anchor="ctr">
                    <a:solidFill>
                      <a:srgbClr val="FFFFFF"/>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0.9229</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0.9195</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100.0%</a:t>
                      </a:r>
                    </a:p>
                  </a:txBody>
                  <a:tcPr marL="118872" marR="118872" marT="45720" marB="45720" anchor="ctr">
                    <a:solidFill>
                      <a:srgbClr val="EDF8F5"/>
                    </a:solidFill>
                  </a:tcPr>
                </a:tc>
              </a:tr>
            </a:tbl>
          </a:graphicData>
        </a:graphic>
      </p:graphicFrame>
      <p:sp>
        <p:nvSpPr>
          <p:cNvPr id="11" name="Rectangle 10"/>
          <p:cNvSpPr/>
          <p:nvPr/>
        </p:nvSpPr>
        <p:spPr>
          <a:xfrm>
            <a:off x="530352" y="5486400"/>
            <a:ext cx="11128248" cy="438912"/>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77840"/>
            <a:ext cx="10799064" cy="246888"/>
          </a:xfrm>
          <a:prstGeom prst="rect">
            <a:avLst/>
          </a:prstGeom>
          <a:noFill/>
        </p:spPr>
        <p:txBody>
          <a:bodyPr wrap="square" lIns="0" rIns="0" tIns="0" bIns="0">
            <a:noAutofit/>
          </a:bodyPr>
          <a:lstStyle/>
          <a:p>
            <a:pPr algn="l">
              <a:spcBef>
                <a:spcPts val="0"/>
              </a:spcBef>
              <a:spcAft>
                <a:spcPts val="400"/>
              </a:spcAft>
              <a:defRPr sz="1600" b="1">
                <a:solidFill>
                  <a:srgbClr val="8A4B08"/>
                </a:solidFill>
                <a:latin typeface="Aptos"/>
              </a:defRPr>
            </a:pPr>
            <a:r>
              <a:t>Faithfulness diverges most (77.1% agreement): review unsupported-claim disagreements.</a:t>
            </a:r>
          </a:p>
        </p:txBody>
      </p:sp>
      <p:sp>
        <p:nvSpPr>
          <p:cNvPr id="13" name="TextBox 12"/>
          <p:cNvSpPr txBox="1"/>
          <p:nvPr/>
        </p:nvSpPr>
        <p:spPr>
          <a:xfrm>
            <a:off x="530352" y="6071616"/>
            <a:ext cx="11128248" cy="265176"/>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Cut-off = 0.5; high toxicity fails. Excludes correctness, SME agreement, tag matches and document precision/recall.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Measured economics and reliability</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Sources: comparison workbook / Summary, Latency_Cost and Consistency. USD token estimates; same local test setup.</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05 / 06</a:t>
            </a:r>
          </a:p>
        </p:txBody>
      </p:sp>
      <p:sp>
        <p:nvSpPr>
          <p:cNvPr id="9" name="TextBox 8"/>
          <p:cNvSpPr txBox="1"/>
          <p:nvPr/>
        </p:nvSpPr>
        <p:spPr>
          <a:xfrm>
            <a:off x="530352" y="1353312"/>
            <a:ext cx="11128248" cy="292608"/>
          </a:xfrm>
          <a:prstGeom prst="rect">
            <a:avLst/>
          </a:prstGeom>
          <a:noFill/>
        </p:spPr>
        <p:txBody>
          <a:bodyPr wrap="square" lIns="0" rIns="0" tIns="0" bIns="0">
            <a:noAutofit/>
          </a:bodyPr>
          <a:lstStyle/>
          <a:p>
            <a:pPr algn="l">
              <a:spcBef>
                <a:spcPts val="0"/>
              </a:spcBef>
              <a:spcAft>
                <a:spcPts val="400"/>
              </a:spcAft>
              <a:defRPr sz="1650" b="0">
                <a:solidFill>
                  <a:srgbClr val="526170"/>
                </a:solidFill>
                <a:latin typeface="Aptos"/>
              </a:defRPr>
            </a:pPr>
            <a:r>
              <a:t>35 rows, 2 runs, concurrency 3. Token estimates are not total cost; observed stability is not a service SLA.</a:t>
            </a:r>
          </a:p>
        </p:txBody>
      </p:sp>
      <p:graphicFrame>
        <p:nvGraphicFramePr>
          <p:cNvPr id="10" name="Table 9"/>
          <p:cNvGraphicFramePr>
            <a:graphicFrameLocks noGrp="1"/>
          </p:cNvGraphicFramePr>
          <p:nvPr/>
        </p:nvGraphicFramePr>
        <p:xfrm>
          <a:off x="530352" y="1856231"/>
          <a:ext cx="11128248" cy="3776472"/>
        </p:xfrm>
        <a:graphic>
          <a:graphicData uri="http://schemas.openxmlformats.org/drawingml/2006/table">
            <a:tbl>
              <a:tblPr firstRow="1" bandRow="1">
                <a:tableStyleId>{5C22544A-7EE6-4342-B048-85BDC9FD1C3A}</a:tableStyleId>
              </a:tblPr>
              <a:tblGrid>
                <a:gridCol w="5806440"/>
                <a:gridCol w="2660904"/>
                <a:gridCol w="2660904"/>
              </a:tblGrid>
              <a:tr h="402336">
                <a:tc>
                  <a:txBody>
                    <a:bodyPr/>
                    <a:lstStyle/>
                    <a:p>
                      <a:pPr>
                        <a:spcBef>
                          <a:spcPts val="0"/>
                        </a:spcBef>
                        <a:spcAft>
                          <a:spcPts val="0"/>
                        </a:spcAft>
                        <a:defRPr sz="1600" b="1">
                          <a:solidFill>
                            <a:srgbClr val="FFFFFF"/>
                          </a:solidFill>
                          <a:latin typeface="Aptos"/>
                        </a:defRPr>
                      </a:pPr>
                      <a:r>
                        <a:t>Measure</a:t>
                      </a:r>
                    </a:p>
                  </a:txBody>
                  <a:tcPr marL="118872" marR="118872" marT="45720" marB="45720" anchor="ctr">
                    <a:solidFill>
                      <a:srgbClr val="2563EB"/>
                    </a:solidFill>
                  </a:tcPr>
                </a:tc>
                <a:tc>
                  <a:txBody>
                    <a:bodyPr/>
                    <a:lstStyle/>
                    <a:p>
                      <a:pPr algn="ctr">
                        <a:spcBef>
                          <a:spcPts val="0"/>
                        </a:spcBef>
                        <a:spcAft>
                          <a:spcPts val="0"/>
                        </a:spcAft>
                        <a:defRPr sz="1600" b="1">
                          <a:solidFill>
                            <a:srgbClr val="FFFFFF"/>
                          </a:solidFill>
                          <a:latin typeface="Aptos"/>
                        </a:defRPr>
                      </a:pPr>
                      <a:r>
                        <a:t>GPT-4o judge</a:t>
                      </a:r>
                    </a:p>
                  </a:txBody>
                  <a:tcPr marL="118872" marR="118872" marT="45720" marB="45720" anchor="ctr">
                    <a:solidFill>
                      <a:srgbClr val="2563EB"/>
                    </a:solidFill>
                  </a:tcPr>
                </a:tc>
                <a:tc>
                  <a:txBody>
                    <a:bodyPr/>
                    <a:lstStyle/>
                    <a:p>
                      <a:pPr algn="ctr">
                        <a:spcBef>
                          <a:spcPts val="0"/>
                        </a:spcBef>
                        <a:spcAft>
                          <a:spcPts val="0"/>
                        </a:spcAft>
                        <a:defRPr sz="1600" b="1">
                          <a:solidFill>
                            <a:srgbClr val="FFFFFF"/>
                          </a:solidFill>
                          <a:latin typeface="Aptos"/>
                        </a:defRPr>
                      </a:pPr>
                      <a:r>
                        <a:t>JEV</a:t>
                      </a:r>
                    </a:p>
                  </a:txBody>
                  <a:tcPr marL="118872" marR="118872" marT="45720" marB="45720" anchor="ctr">
                    <a:solidFill>
                      <a:srgbClr val="2563EB"/>
                    </a:solidFill>
                  </a:tcPr>
                </a:tc>
              </a:tr>
              <a:tr h="374904">
                <a:tc>
                  <a:txBody>
                    <a:bodyPr/>
                    <a:lstStyle/>
                    <a:p>
                      <a:pPr>
                        <a:spcBef>
                          <a:spcPts val="0"/>
                        </a:spcBef>
                        <a:spcAft>
                          <a:spcPts val="0"/>
                        </a:spcAft>
                        <a:defRPr sz="1600" b="1">
                          <a:solidFill>
                            <a:srgbClr val="17212B"/>
                          </a:solidFill>
                          <a:latin typeface="Aptos"/>
                        </a:defRPr>
                      </a:pPr>
                      <a:r>
                        <a:t>Cost per 1,000 evaluated rows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$2.228</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$0.046</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Wall time for 35-row dataset</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14.98 s</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4.68 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Dataset throughput</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2.34 rows/s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7.48 rows/s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Median API-call latency</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4.113 s</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0.346 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p95 API-call latency</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5.150 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0.495 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Failed calls / total observed (both runs)</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 / 20</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 / 70</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Rows with missing scores / total (both runs)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 / 70</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 / 70</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Mean per-metric verdict flip rate</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0.48%</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0.48%</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Mean absolute run-to-run score change</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0.0121</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0.0056</a:t>
                      </a:r>
                    </a:p>
                  </a:txBody>
                  <a:tcPr marL="118872" marR="118872" marT="45720" marB="45720" anchor="ctr">
                    <a:solidFill>
                      <a:srgbClr val="EDF8F5"/>
                    </a:solidFill>
                  </a:tcPr>
                </a:tc>
              </a:tr>
            </a:tbl>
          </a:graphicData>
        </a:graphic>
      </p:graphicFrame>
      <p:sp>
        <p:nvSpPr>
          <p:cNvPr id="11" name="TextBox 10"/>
          <p:cNvSpPr txBox="1"/>
          <p:nvPr/>
        </p:nvSpPr>
        <p:spPr>
          <a:xfrm>
            <a:off x="530352" y="5779008"/>
            <a:ext cx="11128248" cy="228600"/>
          </a:xfrm>
          <a:prstGeom prst="rect">
            <a:avLst/>
          </a:prstGeom>
          <a:noFill/>
        </p:spPr>
        <p:txBody>
          <a:bodyPr wrap="square" lIns="0" rIns="0" tIns="0" bIns="0">
            <a:noAutofit/>
          </a:bodyPr>
          <a:lstStyle/>
          <a:p>
            <a:pPr algn="l">
              <a:spcBef>
                <a:spcPts val="0"/>
              </a:spcBef>
              <a:spcAft>
                <a:spcPts val="400"/>
              </a:spcAft>
              <a:defRPr sz="1300" b="1">
                <a:solidFill>
                  <a:srgbClr val="8A4B08"/>
                </a:solidFill>
                <a:latin typeface="Aptos"/>
              </a:defRPr>
            </a:pPr>
            <a:r>
              <a:t>Batching differs: GPT-4o uses 5 rows/call + correctness calls; JEV uses 1 row/call. Prefer dataset throughput.</a:t>
            </a:r>
          </a:p>
        </p:txBody>
      </p:sp>
      <p:sp>
        <p:nvSpPr>
          <p:cNvPr id="12" name="TextBox 11"/>
          <p:cNvSpPr txBox="1"/>
          <p:nvPr/>
        </p:nvSpPr>
        <p:spPr>
          <a:xfrm>
            <a:off x="530352" y="6080760"/>
            <a:ext cx="11128248" cy="228600"/>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Rates per 1M tokens: GPT-4o $2.50 input / $10 output; JEV $0.042 input / $0 output. No uptime claim.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ADI recommendation: a confidence-gated pilot</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Recommendation, not a measured production architecture. Correctness figures: workbook Summary, 15 applicable cases.</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06 / 06</a:t>
            </a:r>
          </a:p>
        </p:txBody>
      </p:sp>
      <p:sp>
        <p:nvSpPr>
          <p:cNvPr id="9" name="TextBox 8"/>
          <p:cNvSpPr txBox="1"/>
          <p:nvPr/>
        </p:nvSpPr>
        <p:spPr>
          <a:xfrm>
            <a:off x="530352" y="1371600"/>
            <a:ext cx="11128248" cy="384048"/>
          </a:xfrm>
          <a:prstGeom prst="rect">
            <a:avLst/>
          </a:prstGeom>
          <a:noFill/>
        </p:spPr>
        <p:txBody>
          <a:bodyPr wrap="square" lIns="0" rIns="0" tIns="0" bIns="0">
            <a:noAutofit/>
          </a:bodyPr>
          <a:lstStyle/>
          <a:p>
            <a:pPr algn="l">
              <a:spcBef>
                <a:spcPts val="0"/>
              </a:spcBef>
              <a:spcAft>
                <a:spcPts val="400"/>
              </a:spcAft>
              <a:defRPr sz="2300" b="1">
                <a:solidFill>
                  <a:srgbClr val="2563EB"/>
                </a:solidFill>
                <a:latin typeface="Aptos"/>
              </a:defRPr>
            </a:pPr>
            <a:r>
              <a:t>Approve validation, not replacement.</a:t>
            </a:r>
          </a:p>
        </p:txBody>
      </p:sp>
      <p:sp>
        <p:nvSpPr>
          <p:cNvPr id="10" name="Rectangle 9"/>
          <p:cNvSpPr/>
          <p:nvPr/>
        </p:nvSpPr>
        <p:spPr>
          <a:xfrm>
            <a:off x="530352" y="2011680"/>
            <a:ext cx="2944368" cy="667512"/>
          </a:xfrm>
          <a:prstGeom prst="rect">
            <a:avLst/>
          </a:prstGeom>
          <a:solidFill>
            <a:srgbClr val="ED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167128"/>
            <a:ext cx="2706624" cy="393192"/>
          </a:xfrm>
          <a:prstGeom prst="rect">
            <a:avLst/>
          </a:prstGeom>
          <a:noFill/>
        </p:spPr>
        <p:txBody>
          <a:bodyPr wrap="square" lIns="0" rIns="0" tIns="0" bIns="0">
            <a:noAutofit/>
          </a:bodyPr>
          <a:lstStyle/>
          <a:p>
            <a:pPr algn="ctr">
              <a:spcBef>
                <a:spcPts val="0"/>
              </a:spcBef>
              <a:spcAft>
                <a:spcPts val="400"/>
              </a:spcAft>
              <a:defRPr sz="1700" b="1">
                <a:solidFill>
                  <a:srgbClr val="17212B"/>
                </a:solidFill>
                <a:latin typeface="Aptos"/>
              </a:defRPr>
            </a:pPr>
            <a:r>
              <a:t>JEV routine screening</a:t>
            </a:r>
          </a:p>
        </p:txBody>
      </p:sp>
      <p:sp>
        <p:nvSpPr>
          <p:cNvPr id="12" name="Rectangle 11"/>
          <p:cNvSpPr/>
          <p:nvPr/>
        </p:nvSpPr>
        <p:spPr>
          <a:xfrm>
            <a:off x="3767328" y="2011680"/>
            <a:ext cx="4315968" cy="667512"/>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2167128"/>
            <a:ext cx="4078224" cy="393192"/>
          </a:xfrm>
          <a:prstGeom prst="rect">
            <a:avLst/>
          </a:prstGeom>
          <a:noFill/>
        </p:spPr>
        <p:txBody>
          <a:bodyPr wrap="square" lIns="0" rIns="0" tIns="0" bIns="0">
            <a:noAutofit/>
          </a:bodyPr>
          <a:lstStyle/>
          <a:p>
            <a:pPr algn="ctr">
              <a:spcBef>
                <a:spcPts val="0"/>
              </a:spcBef>
              <a:spcAft>
                <a:spcPts val="400"/>
              </a:spcAft>
              <a:defRPr sz="1700" b="1">
                <a:solidFill>
                  <a:srgbClr val="17212B"/>
                </a:solidFill>
                <a:latin typeface="Aptos"/>
              </a:defRPr>
            </a:pPr>
            <a:r>
              <a:t>Low confidence / disagreement / high risk</a:t>
            </a:r>
          </a:p>
        </p:txBody>
      </p:sp>
      <p:sp>
        <p:nvSpPr>
          <p:cNvPr id="14" name="Rectangle 13"/>
          <p:cNvSpPr/>
          <p:nvPr/>
        </p:nvSpPr>
        <p:spPr>
          <a:xfrm>
            <a:off x="8375904" y="2011680"/>
            <a:ext cx="3282696" cy="66751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94776" y="2167128"/>
            <a:ext cx="3044952" cy="393192"/>
          </a:xfrm>
          <a:prstGeom prst="rect">
            <a:avLst/>
          </a:prstGeom>
          <a:noFill/>
        </p:spPr>
        <p:txBody>
          <a:bodyPr wrap="square" lIns="0" rIns="0" tIns="0" bIns="0">
            <a:noAutofit/>
          </a:bodyPr>
          <a:lstStyle/>
          <a:p>
            <a:pPr algn="ctr">
              <a:spcBef>
                <a:spcPts val="0"/>
              </a:spcBef>
              <a:spcAft>
                <a:spcPts val="400"/>
              </a:spcAft>
              <a:defRPr sz="1700" b="1">
                <a:solidFill>
                  <a:srgbClr val="17212B"/>
                </a:solidFill>
                <a:latin typeface="Aptos"/>
              </a:defRPr>
            </a:pPr>
            <a:r>
              <a:t>GPT-4o or SME review</a:t>
            </a:r>
          </a:p>
        </p:txBody>
      </p:sp>
      <p:sp>
        <p:nvSpPr>
          <p:cNvPr id="16" name="Chevron 15"/>
          <p:cNvSpPr/>
          <p:nvPr/>
        </p:nvSpPr>
        <p:spPr>
          <a:xfrm>
            <a:off x="3538728" y="2221992"/>
            <a:ext cx="146304" cy="219456"/>
          </a:xfrm>
          <a:prstGeom prst="chevron">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evron 16"/>
          <p:cNvSpPr/>
          <p:nvPr/>
        </p:nvSpPr>
        <p:spPr>
          <a:xfrm>
            <a:off x="8147304" y="2221992"/>
            <a:ext cx="146304" cy="219456"/>
          </a:xfrm>
          <a:prstGeom prst="chevron">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530352" y="2962656"/>
          <a:ext cx="11128247" cy="2587752"/>
        </p:xfrm>
        <a:graphic>
          <a:graphicData uri="http://schemas.openxmlformats.org/drawingml/2006/table">
            <a:tbl>
              <a:tblPr firstRow="1" bandRow="1">
                <a:tableStyleId>{5C22544A-7EE6-4342-B048-85BDC9FD1C3A}</a:tableStyleId>
              </a:tblPr>
              <a:tblGrid>
                <a:gridCol w="1892807"/>
                <a:gridCol w="4736592"/>
                <a:gridCol w="4498848"/>
              </a:tblGrid>
              <a:tr h="420624">
                <a:tc>
                  <a:txBody>
                    <a:bodyPr/>
                    <a:lstStyle/>
                    <a:p>
                      <a:pPr>
                        <a:spcBef>
                          <a:spcPts val="0"/>
                        </a:spcBef>
                        <a:spcAft>
                          <a:spcPts val="0"/>
                        </a:spcAft>
                        <a:defRPr sz="1600" b="1">
                          <a:solidFill>
                            <a:srgbClr val="FFFFFF"/>
                          </a:solidFill>
                          <a:latin typeface="Aptos"/>
                        </a:defRPr>
                      </a:pPr>
                      <a:r>
                        <a:t>Phase</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Recommended action</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Decision evidence</a:t>
                      </a:r>
                    </a:p>
                  </a:txBody>
                  <a:tcPr marL="118872" marR="118872" marT="45720" marB="45720" anchor="ctr">
                    <a:solidFill>
                      <a:srgbClr val="2563EB"/>
                    </a:solidFill>
                  </a:tcPr>
                </a:tc>
              </a:tr>
              <a:tr h="722376">
                <a:tc>
                  <a:txBody>
                    <a:bodyPr/>
                    <a:lstStyle/>
                    <a:p>
                      <a:pPr>
                        <a:spcBef>
                          <a:spcPts val="0"/>
                        </a:spcBef>
                        <a:spcAft>
                          <a:spcPts val="0"/>
                        </a:spcAft>
                        <a:defRPr sz="1600" b="1">
                          <a:solidFill>
                            <a:srgbClr val="17212B"/>
                          </a:solidFill>
                          <a:latin typeface="Aptos"/>
                        </a:defRPr>
                      </a:pPr>
                      <a:r>
                        <a:t>1. Shadow test</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500+ de-identified, independently SME-labelled</a:t>
                      </a:r>
                    </a:p>
                    <a:p>
                      <a:pPr>
                        <a:spcBef>
                          <a:spcPts val="0"/>
                        </a:spcBef>
                        <a:spcAft>
                          <a:spcPts val="0"/>
                        </a:spcAft>
                        <a:defRPr sz="1600" b="0">
                          <a:solidFill>
                            <a:srgbClr val="17212B"/>
                          </a:solidFill>
                          <a:latin typeface="Aptos"/>
                        </a:defRPr>
                      </a:pPr>
                      <a:r>
                        <a:t>cases; include numbers, refusals and Hinglish.</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Failure recall, correctness, latency;</a:t>
                      </a:r>
                    </a:p>
                    <a:p>
                      <a:pPr>
                        <a:spcBef>
                          <a:spcPts val="0"/>
                        </a:spcBef>
                        <a:spcAft>
                          <a:spcPts val="0"/>
                        </a:spcAft>
                        <a:defRPr sz="1600" b="0">
                          <a:solidFill>
                            <a:srgbClr val="17212B"/>
                          </a:solidFill>
                          <a:latin typeface="Aptos"/>
                        </a:defRPr>
                      </a:pPr>
                      <a:r>
                        <a:t>confidence slices and vendor data controls.</a:t>
                      </a:r>
                    </a:p>
                  </a:txBody>
                  <a:tcPr marL="118872" marR="118872" marT="45720" marB="45720" anchor="ctr">
                    <a:solidFill>
                      <a:srgbClr val="EDF8F5"/>
                    </a:solidFill>
                  </a:tcPr>
                </a:tc>
              </a:tr>
              <a:tr h="722376">
                <a:tc>
                  <a:txBody>
                    <a:bodyPr/>
                    <a:lstStyle/>
                    <a:p>
                      <a:pPr>
                        <a:spcBef>
                          <a:spcPts val="0"/>
                        </a:spcBef>
                        <a:spcAft>
                          <a:spcPts val="0"/>
                        </a:spcAft>
                        <a:defRPr sz="1600" b="1">
                          <a:solidFill>
                            <a:srgbClr val="17212B"/>
                          </a:solidFill>
                          <a:latin typeface="Aptos"/>
                        </a:defRPr>
                      </a:pPr>
                      <a:r>
                        <a:t>2. Bounded pilot</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Start with routine quality scoring;</a:t>
                      </a:r>
                    </a:p>
                    <a:p>
                      <a:pPr>
                        <a:spcBef>
                          <a:spcPts val="0"/>
                        </a:spcBef>
                        <a:spcAft>
                          <a:spcPts val="0"/>
                        </a:spcAft>
                        <a:defRPr sz="1600" b="0">
                          <a:solidFill>
                            <a:srgbClr val="17212B"/>
                          </a:solidFill>
                          <a:latin typeface="Aptos"/>
                        </a:defRPr>
                      </a:pPr>
                      <a:r>
                        <a:t>keep high-risk answers in the escalation path.</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Calibrate score / confidence cut-offs;</a:t>
                      </a:r>
                    </a:p>
                    <a:p>
                      <a:pPr>
                        <a:spcBef>
                          <a:spcPts val="0"/>
                        </a:spcBef>
                        <a:spcAft>
                          <a:spcPts val="0"/>
                        </a:spcAft>
                        <a:defRPr sz="1600" b="0">
                          <a:solidFill>
                            <a:srgbClr val="17212B"/>
                          </a:solidFill>
                          <a:latin typeface="Aptos"/>
                        </a:defRPr>
                      </a:pPr>
                      <a:r>
                        <a:t>retain audit logs and monitor drift.</a:t>
                      </a:r>
                    </a:p>
                  </a:txBody>
                  <a:tcPr marL="118872" marR="118872" marT="45720" marB="45720" anchor="ctr">
                    <a:solidFill>
                      <a:srgbClr val="EDF8F5"/>
                    </a:solidFill>
                  </a:tcPr>
                </a:tc>
              </a:tr>
              <a:tr h="722376">
                <a:tc>
                  <a:txBody>
                    <a:bodyPr/>
                    <a:lstStyle/>
                    <a:p>
                      <a:pPr>
                        <a:spcBef>
                          <a:spcPts val="0"/>
                        </a:spcBef>
                        <a:spcAft>
                          <a:spcPts val="0"/>
                        </a:spcAft>
                        <a:defRPr sz="1600" b="1">
                          <a:solidFill>
                            <a:srgbClr val="17212B"/>
                          </a:solidFill>
                          <a:latin typeface="Aptos"/>
                        </a:defRPr>
                      </a:pPr>
                      <a:r>
                        <a:t>3. Compare options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Test GPT-4o-mini + named SLMs on the same</a:t>
                      </a:r>
                    </a:p>
                    <a:p>
                      <a:pPr>
                        <a:spcBef>
                          <a:spcPts val="0"/>
                        </a:spcBef>
                        <a:spcAft>
                          <a:spcPts val="0"/>
                        </a:spcAft>
                        <a:defRPr sz="1600" b="0">
                          <a:solidFill>
                            <a:srgbClr val="17212B"/>
                          </a:solidFill>
                          <a:latin typeface="Aptos"/>
                        </a:defRPr>
                      </a:pPr>
                      <a:r>
                        <a:t>data, task definitions and operating budgets.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Per-metric recall, explanations, privacy,</a:t>
                      </a:r>
                    </a:p>
                    <a:p>
                      <a:pPr>
                        <a:spcBef>
                          <a:spcPts val="0"/>
                        </a:spcBef>
                        <a:spcAft>
                          <a:spcPts val="0"/>
                        </a:spcAft>
                        <a:defRPr sz="1600" b="0">
                          <a:solidFill>
                            <a:srgbClr val="17212B"/>
                          </a:solidFill>
                          <a:latin typeface="Aptos"/>
                        </a:defRPr>
                      </a:pPr>
                      <a:r>
                        <a:t>hosting, availability and total cost.</a:t>
                      </a:r>
                    </a:p>
                  </a:txBody>
                  <a:tcPr marL="118872" marR="118872" marT="45720" marB="45720" anchor="ctr">
                    <a:solidFill>
                      <a:srgbClr val="EDF8F5"/>
                    </a:solidFill>
                  </a:tcPr>
                </a:tc>
              </a:tr>
            </a:tbl>
          </a:graphicData>
        </a:graphic>
      </p:graphicFrame>
      <p:sp>
        <p:nvSpPr>
          <p:cNvPr id="19" name="TextBox 18"/>
          <p:cNvSpPr txBox="1"/>
          <p:nvPr/>
        </p:nvSpPr>
        <p:spPr>
          <a:xfrm>
            <a:off x="530352" y="5769864"/>
            <a:ext cx="11128248" cy="502920"/>
          </a:xfrm>
          <a:prstGeom prst="rect">
            <a:avLst/>
          </a:prstGeom>
          <a:noFill/>
        </p:spPr>
        <p:txBody>
          <a:bodyPr wrap="square" lIns="0" rIns="0" tIns="0" bIns="0">
            <a:noAutofit/>
          </a:bodyPr>
          <a:lstStyle/>
          <a:p>
            <a:pPr algn="l">
              <a:spcBef>
                <a:spcPts val="0"/>
              </a:spcBef>
              <a:spcAft>
                <a:spcPts val="400"/>
              </a:spcAft>
              <a:defRPr sz="1550" b="1">
                <a:solidFill>
                  <a:srgbClr val="8A4B08"/>
                </a:solidFill>
                <a:latin typeface="Aptos"/>
              </a:defRPr>
            </a:pPr>
            <a:r>
              <a:t>Retain GPT-4o for difficult correctness review: 80.0% vs JEV 73.3% band accuracy</a:t>
            </a:r>
          </a:p>
          <a:p>
            <a:pPr algn="l">
              <a:spcBef>
                <a:spcPts val="0"/>
              </a:spcBef>
              <a:spcAft>
                <a:spcPts val="400"/>
              </a:spcAft>
              <a:defRPr sz="1550" b="1">
                <a:solidFill>
                  <a:srgbClr val="8A4B08"/>
                </a:solidFill>
                <a:latin typeface="Aptos"/>
              </a:defRPr>
            </a:pPr>
            <a:r>
              <a:t>on 15 applicable synthetic cases. Human review remains necessary for high-risk banking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ADI: JEV as an exploratory evaluation alternative</dc:title>
  <dc:subject>Leadership review of the saved JEV vs GPT-4o judge benchmark</dc:subject>
  <dc:creator>ADI</dc:creator>
  <cp:keywords>ADI, JEV, GPT-4o, evaluation, exploratory benchmark</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