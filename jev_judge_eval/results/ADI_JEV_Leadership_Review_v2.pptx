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positioning: JEV is a promising alternative for bounded evaluation and structured decisions. This experiment did not test ADI answer generation, GPT-4o-mini or any SLM. Measured models: openai/gpt-4o via OpenRouter and JEV jev-1.13.0 via TypeSafe. The 35 synthetic rows were run twice per judge. Quality-label accuracy is mean binary accuracy over five metrics against designer-created labels: GPT-4o 94.6%, JEV 98.6%. Labels and JEV rubrics were designed by the same author; this can bias results. Cost and throughput ratios are calculated from the saved workbook, not vendor marketing claims. Token cost excludes infrastructure, implementation, human review and any escalation model. Use the findings to justify a pilot, not to claim general model superiority.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is between judging workflows, not between end-to-end chatbot answer models. GPT-4o generates strict JSON with metric scores and brief written reasons. JEV Score returns a distribution over rubric levels, an expected raw score and confidence, without generated reasons. The tested JEV integration submits one row with five quality questions and an optional correctness question. Routing and guardrail uses are proposed adjacent experiments, not measured benefits in this benchmark. GPT-4o-mini and an SLM may also be candidates, but no accuracy, price, latency or reliability comparison against them has been run here. An SLM deployment must include hosting, tuning and operating costs. Reference: https://docs.typesafe.ai/api.md and https://docs.typesafe.ai/primitives/score.md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these scores are not mathematically equivalent, despite sharing the 0-1 range. The GPT prompt asks for atomic claim or statement ratios, but the application does not independently extract and count claims. It accepts the model's returned judgment. Toxicity and tone use G-Eval five-point ratings normalized by (raw-1)/4. These are RAGAS-style prompts, not a run of the RAGAS library. JEV returns an expected ordinal rubric score. For four criteria indexed 0 to 3, normalized score = sum(k * probability[k]) / 3. Example: 0*.10 + 1*.20 + 2*.30 + 3*.40 = 2.00, then 2/3 = .667. The implementation normalizes the returned answer['score']; it does not use confidence as the quality score. The raw expected score can be fractional. Correctness uses three levels and divides by 2. It is separately evaluated on the 15 SME-No rows with a corrected answer. The standalone evaluators automatically give SME-Yes rows correctness 1.0; the comparison excludes those automatic credits. Product/subproduct matches and document precision/recall are deterministic ground-truth checks, not alternate model-scoring methods. Rubric and threshold calibration must be validated per metric. These scores are not established calibrated probabilities of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requested separate non-ground-truth metric comparison. It deliberately excludes answer correctness, SME agreement, product/subproduct matches and document retrieval precision/recall. Faithfulness still needs the retrieved context as evidence, but no independently corrected SME answer. Scores are means from the workbook Agreement sheet, averaged over both benchmark runs. Pass/fail agreement uses the shared .5 threshold; high toxicity is a failure. Mean score differences are descriptive and must not be interpreted as one model generating better answers; both judges scored identical ADI outputs. Different scoring mathematics can explain different numeric averages. Faithfulness had only 77.1% verdict agreement, so unsupported-claim cases are a priority for SME adjudication. Accuracy claims elsewhere in this deck do require designer labels; this table's metrics themselves do not require ground-truth reference answers.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judge success against the synthetic designer labels, not average quality-score levels. Unlike slide 4, this is a labelled validation view. It includes the ground-truth-dependent correctness metric separately and names the measure used for each row. JEV lags GPT-4o on answer-correctness band accuracy: 73.3% versus 80.0%, a 6.7-percentage-point gap on only 15 applicable cases. That is one additional case per run and is not statistically established superiority. Correctness scores are rounded to the nearest 0, 0.5 or 1 before comparison with the designer grade. GPT-4o lags JEV on detecting unsupported factual claims at the chosen 0.5 cut-off: 50% versus 100% recall on ten designer-unfaithful cases. Faithfulness verdict accuracy is also 78.6% versus 95.7%. In a case-specific review, GPT may notice a wrong fact in its written reason yet still return a score that passes the downstream cut-off. Toxicity verdict accuracy is 97.1% for GPT versus 100% for JEV, representing one additional false positive from GPT on slang. There are only two designer-toxic cases, so this is a limited signal. Answer relevance and tone accuracy tie at 100%; context relevance ties at 97.1%. Do not interpret equal verdict accuracy as identical raw scores or equally calibrated probabilities. All results are means of the two saved runs; no model calls were rerun to select these examples. The labels and rubrics were designed by the same author. These are workflow-level observations under the implemented rubrics and thresholds, not broad rankings of model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selected examples illustrate metric-specific differences under the current scoring pipeline, not that one judge is right about every aspect of either answer. Both differences persist in both runs. Visible scores are run 1. Case numbering is one-based; source row_ids are zero-based. Case 03 / row_id 2: JEV faithfulness .33 is below .5 and is flagged; GPT .67 passes. GPT's written reason is 'ATM limit claim not supported', so the error is score/threshold behaviour, not proof that GPT could not identify the contradiction. In run 2, GPT faithfulness is .50 and JEV is .98/3 = .3267, so the same verdict contrast remains. Case 09 / row_id 8: the designer's factual correctness grade is 1.0, but the SME marked the overall response No because it uses rude, belittling phrasing. GPT returns correctness 1.0 with reason 'Semantically equivalent.' JEV returns raw 1.44/2 = .72, which is mapped to the partial band .5. Both runs give the same correctness scores. Both judges give tone 0, so neither should approve the overall answer. JEV correctness confidence is .34; it is near the .75 full-match boundary. Its probabilities are .56 on partial and .44 on full match, so it is uncertain rather than confidently asserting a factual contradiction. JEV provides no written reason; do not attribute its lower score to a specific internal cause. The slide's reference and answer blocks are condensed for readability; the original query, retrieved context, ADI answer and corrected answer follow.</a:t>
            </a:r>
          </a:p>
          <a:p/>
          <a:p>
            <a:r>
              <a:t>CASE 03 / row_id 2</a:t>
            </a:r>
          </a:p>
          <a:p>
            <a:r>
              <a:t>User Query: What is the daily ATM withdrawal limit on the Burgundy debit card?</a:t>
            </a:r>
          </a:p>
          <a:p>
            <a:r>
              <a:t>Content Retrieved by ADI: [Doc: CASA_Burgundy_Savings_Product_Note.pdf | Debit Card Limits] Burgundy Debit Card: daily ATM cash withdrawal limit Rs. 3,00,000; daily POS / e-commerce purchase limit Rs. 6,00,000. Customers can modify these limits through mobile banking within the maximum permissible limit.</a:t>
            </a:r>
          </a:p>
          <a:p>
            <a:r>
              <a:t>Response by ADI: For the Burgundy Debit Card, the daily ATM cash withdrawal limit is Rs. 1,00,000 and the daily POS / e-commerce purchase limit is Rs. 6,00,000. Customers can modify these limits through mobile banking.</a:t>
            </a:r>
          </a:p>
          <a:p>
            <a:r>
              <a:t>If ADI response incorrect(Enter right response): The Burgundy Debit Card has a daily ATM cash withdrawal limit of Rs. 3,00,000 and a daily POS / e-commerce limit of Rs. 6,00,000; customers can modify limits via mobile banking within the maximum permissible limit.</a:t>
            </a:r>
          </a:p>
          <a:p/>
          <a:p>
            <a:r>
              <a:t>CASE 09 / row_id 8</a:t>
            </a:r>
          </a:p>
          <a:p>
            <a:r>
              <a:t>User Query: how do i reset my VPN password</a:t>
            </a:r>
          </a:p>
          <a:p>
            <a:r>
              <a:t>Content Retrieved by ADI: [Doc: IT_VPN_Access_Guide.pdf | Password Reset] VPN passwords are synchronised with the domain (AD) password. To reset, use the Self-Service Password Reset (SSPR) portal, verify using the OTP sent to your registered mobile number, and set a new password that meets the complexity policy. The new password syncs to VPN within 15 minutes.</a:t>
            </a:r>
          </a:p>
          <a:p>
            <a:r>
              <a:t>Response by ADI: Seriously? You should know this by now. Just go to the SSPR portal, verify with the OTP on your registered mobile and set a new password. It syncs to VPN in 15 minutes. Don't waste the helpdesk's time with such basic questions.</a:t>
            </a:r>
          </a:p>
          <a:p>
            <a:r>
              <a:t>If ADI response incorrect(Enter right response): Your VPN password is synchronised with your domain password. Reset it through the Self-Service Password Reset (SSPR) portal using the OTP sent to your registered mobile number; the new password syncs to VPN within 15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latency, cost and throughput values come from the saved live benchmark. Aggregate rows show the mean of the two run-level statistics; the p95 is the mean of each run's p95, not a pooled p95. GPT-4o made 10 calls per run: 7 batched quality calls plus 3 separate correctness calls. JEV made 35 calls per run, one row with parallel Score questions in each request. This makes raw call latency an unequal-workload comparison. The 35-row wall time and dataset throughput are more decision-relevant, although batching and providers still differ. Zero failed calls and zero missing-score rows were observed across 20 GPT calls and 70 JEV calls. No rate-limit, outage, recovery or long-duration service test was performed. Run-to-run metrics are means across the six scored metrics, including applicable correctness rows. They measure repeatability, not correctness or calibrated confidence. Cost uses successful usage tokens at the recorded token rates; it excludes infrastructure, engineering, review and any future GPT/SME escalation. The extrapolation per 1,000 rows assumes the same input lengths, output lengths, batching and correctness mix. A future GPT-4o-mini/SLM comparison must measure total cost and the same quality gates.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leadership decision: authorize a controlled shadow-mode pilot with data-security approval. 500+ de-identified cases is a proposed pilot scope, not a claim that the current benchmark contains 500 cases or that 500 suffices for all rare risks. Use independently SME-labelled held-out cases, including difficult numerical, eligibility, multilingual and refusal examples. Separate data used to tune rubrics or thresholds from final validation. Report confidence intervals and per-metric false negatives rather than relying on one overall accuracy number. Keep high-risk cases in the GPT/SME path irrespective of confidence. JEV's confidence is not yet calibrated for ADI; the small high-confidence subsets had no errors but provide no guarantee. Validate any confidence threshold on held-out ADI cases before gating decisions. Review vendor retention, residency, access controls, contractual terms and operational availability before transmitting banking data. Maintain existing deterministic SME/document checks. GPT-4o achieved 80.0% vs JEV 73.3% band accuracy on 15 applicable correctness cases; this small difference is directional, not statistically established superiority. Keep GPT-4o for written rationale and complex adjudication during the pilot. Add GPT-4o-mini and explicitly selected hosted/self-hosted SLMs to the same held-out benchmark. Production expansion requires agreed quality, compliance and total-cost gates; answer-generation replacement requires an entirely separate experiment.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JEV: a lower-cost evaluation option for ADI</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 comparison workbook / Summary and Setup. Synthetic evidence, not a production assessment.</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01 / 08</a:t>
            </a:r>
          </a:p>
        </p:txBody>
      </p:sp>
      <p:sp>
        <p:nvSpPr>
          <p:cNvPr id="9" name="TextBox 8"/>
          <p:cNvSpPr txBox="1"/>
          <p:nvPr/>
        </p:nvSpPr>
        <p:spPr>
          <a:xfrm>
            <a:off x="530352" y="1417320"/>
            <a:ext cx="11128248" cy="777240"/>
          </a:xfrm>
          <a:prstGeom prst="rect">
            <a:avLst/>
          </a:prstGeom>
          <a:noFill/>
        </p:spPr>
        <p:txBody>
          <a:bodyPr wrap="square" lIns="0" rIns="0" tIns="0" bIns="0">
            <a:noAutofit/>
          </a:bodyPr>
          <a:lstStyle/>
          <a:p>
            <a:pPr algn="l">
              <a:spcBef>
                <a:spcPts val="0"/>
              </a:spcBef>
              <a:spcAft>
                <a:spcPts val="400"/>
              </a:spcAft>
              <a:defRPr sz="2200" b="1">
                <a:solidFill>
                  <a:srgbClr val="17212B"/>
                </a:solidFill>
                <a:latin typeface="Aptos"/>
              </a:defRPr>
            </a:pPr>
            <a:r>
              <a:t>Pilot JEV for bounded scoring and classification;</a:t>
            </a:r>
          </a:p>
          <a:p>
            <a:pPr algn="l">
              <a:spcBef>
                <a:spcPts val="0"/>
              </a:spcBef>
              <a:spcAft>
                <a:spcPts val="400"/>
              </a:spcAft>
              <a:defRPr sz="2200" b="1">
                <a:solidFill>
                  <a:srgbClr val="17212B"/>
                </a:solidFill>
                <a:latin typeface="Aptos"/>
              </a:defRPr>
            </a:pPr>
            <a:r>
              <a:t>keep GPT-4o for complex review and explanations.</a:t>
            </a:r>
          </a:p>
        </p:txBody>
      </p:sp>
      <p:sp>
        <p:nvSpPr>
          <p:cNvPr id="10" name="Rectangle 9"/>
          <p:cNvSpPr/>
          <p:nvPr/>
        </p:nvSpPr>
        <p:spPr>
          <a:xfrm>
            <a:off x="530352" y="2331720"/>
            <a:ext cx="11128248" cy="1152144"/>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441448"/>
            <a:ext cx="3291840" cy="512064"/>
          </a:xfrm>
          <a:prstGeom prst="rect">
            <a:avLst/>
          </a:prstGeom>
          <a:noFill/>
        </p:spPr>
        <p:txBody>
          <a:bodyPr wrap="square" lIns="0" rIns="0" tIns="0" bIns="0">
            <a:noAutofit/>
          </a:bodyPr>
          <a:lstStyle/>
          <a:p>
            <a:pPr algn="l">
              <a:spcBef>
                <a:spcPts val="0"/>
              </a:spcBef>
              <a:spcAft>
                <a:spcPts val="400"/>
              </a:spcAft>
              <a:defRPr sz="3400" b="1">
                <a:solidFill>
                  <a:srgbClr val="2563EB"/>
                </a:solidFill>
                <a:latin typeface="Aptos"/>
              </a:defRPr>
            </a:pPr>
            <a:r>
              <a:t>48.3x</a:t>
            </a:r>
          </a:p>
        </p:txBody>
      </p:sp>
      <p:sp>
        <p:nvSpPr>
          <p:cNvPr id="12" name="TextBox 11"/>
          <p:cNvSpPr txBox="1"/>
          <p:nvPr/>
        </p:nvSpPr>
        <p:spPr>
          <a:xfrm>
            <a:off x="749808" y="2971800"/>
            <a:ext cx="3429000" cy="265176"/>
          </a:xfrm>
          <a:prstGeom prst="rect">
            <a:avLst/>
          </a:prstGeom>
          <a:noFill/>
        </p:spPr>
        <p:txBody>
          <a:bodyPr wrap="square" lIns="0" rIns="0" tIns="0" bIns="0">
            <a:noAutofit/>
          </a:bodyPr>
          <a:lstStyle/>
          <a:p>
            <a:pPr algn="l">
              <a:spcBef>
                <a:spcPts val="0"/>
              </a:spcBef>
              <a:spcAft>
                <a:spcPts val="400"/>
              </a:spcAft>
              <a:defRPr sz="1600" b="1">
                <a:solidFill>
                  <a:srgbClr val="17212B"/>
                </a:solidFill>
                <a:latin typeface="Aptos"/>
              </a:defRPr>
            </a:pPr>
            <a:r>
              <a:t>Lower estimated token cost</a:t>
            </a:r>
          </a:p>
        </p:txBody>
      </p:sp>
      <p:sp>
        <p:nvSpPr>
          <p:cNvPr id="13" name="TextBox 12"/>
          <p:cNvSpPr txBox="1"/>
          <p:nvPr/>
        </p:nvSpPr>
        <p:spPr>
          <a:xfrm>
            <a:off x="749808" y="3246120"/>
            <a:ext cx="3429000" cy="173736"/>
          </a:xfrm>
          <a:prstGeom prst="rect">
            <a:avLst/>
          </a:prstGeom>
          <a:noFill/>
        </p:spPr>
        <p:txBody>
          <a:bodyPr wrap="square" lIns="0" rIns="0" tIns="0" bIns="0">
            <a:noAutofit/>
          </a:bodyPr>
          <a:lstStyle/>
          <a:p>
            <a:pPr algn="l">
              <a:spcBef>
                <a:spcPts val="0"/>
              </a:spcBef>
              <a:spcAft>
                <a:spcPts val="400"/>
              </a:spcAft>
              <a:defRPr sz="1150" b="0">
                <a:solidFill>
                  <a:srgbClr val="526170"/>
                </a:solidFill>
                <a:latin typeface="Aptos"/>
              </a:defRPr>
            </a:pPr>
            <a:r>
              <a:t>JEV vs GPT-4o judge</a:t>
            </a:r>
          </a:p>
        </p:txBody>
      </p:sp>
      <p:sp>
        <p:nvSpPr>
          <p:cNvPr id="14" name="TextBox 13"/>
          <p:cNvSpPr txBox="1"/>
          <p:nvPr/>
        </p:nvSpPr>
        <p:spPr>
          <a:xfrm>
            <a:off x="4443984" y="2441448"/>
            <a:ext cx="3291840" cy="512064"/>
          </a:xfrm>
          <a:prstGeom prst="rect">
            <a:avLst/>
          </a:prstGeom>
          <a:noFill/>
        </p:spPr>
        <p:txBody>
          <a:bodyPr wrap="square" lIns="0" rIns="0" tIns="0" bIns="0">
            <a:noAutofit/>
          </a:bodyPr>
          <a:lstStyle/>
          <a:p>
            <a:pPr algn="l">
              <a:spcBef>
                <a:spcPts val="0"/>
              </a:spcBef>
              <a:spcAft>
                <a:spcPts val="400"/>
              </a:spcAft>
              <a:defRPr sz="3400" b="1">
                <a:solidFill>
                  <a:srgbClr val="2563EB"/>
                </a:solidFill>
                <a:latin typeface="Aptos"/>
              </a:defRPr>
            </a:pPr>
            <a:r>
              <a:t>3.2x</a:t>
            </a:r>
          </a:p>
        </p:txBody>
      </p:sp>
      <p:sp>
        <p:nvSpPr>
          <p:cNvPr id="15" name="TextBox 14"/>
          <p:cNvSpPr txBox="1"/>
          <p:nvPr/>
        </p:nvSpPr>
        <p:spPr>
          <a:xfrm>
            <a:off x="4443984" y="2971800"/>
            <a:ext cx="3429000" cy="265176"/>
          </a:xfrm>
          <a:prstGeom prst="rect">
            <a:avLst/>
          </a:prstGeom>
          <a:noFill/>
        </p:spPr>
        <p:txBody>
          <a:bodyPr wrap="square" lIns="0" rIns="0" tIns="0" bIns="0">
            <a:noAutofit/>
          </a:bodyPr>
          <a:lstStyle/>
          <a:p>
            <a:pPr algn="l">
              <a:spcBef>
                <a:spcPts val="0"/>
              </a:spcBef>
              <a:spcAft>
                <a:spcPts val="400"/>
              </a:spcAft>
              <a:defRPr sz="1600" b="1">
                <a:solidFill>
                  <a:srgbClr val="17212B"/>
                </a:solidFill>
                <a:latin typeface="Aptos"/>
              </a:defRPr>
            </a:pPr>
            <a:r>
              <a:t>Higher dataset throughput</a:t>
            </a:r>
          </a:p>
        </p:txBody>
      </p:sp>
      <p:sp>
        <p:nvSpPr>
          <p:cNvPr id="16" name="TextBox 15"/>
          <p:cNvSpPr txBox="1"/>
          <p:nvPr/>
        </p:nvSpPr>
        <p:spPr>
          <a:xfrm>
            <a:off x="4443984" y="3246120"/>
            <a:ext cx="3429000" cy="173736"/>
          </a:xfrm>
          <a:prstGeom prst="rect">
            <a:avLst/>
          </a:prstGeom>
          <a:noFill/>
        </p:spPr>
        <p:txBody>
          <a:bodyPr wrap="square" lIns="0" rIns="0" tIns="0" bIns="0">
            <a:noAutofit/>
          </a:bodyPr>
          <a:lstStyle/>
          <a:p>
            <a:pPr algn="l">
              <a:spcBef>
                <a:spcPts val="0"/>
              </a:spcBef>
              <a:spcAft>
                <a:spcPts val="400"/>
              </a:spcAft>
              <a:defRPr sz="1150" b="0">
                <a:solidFill>
                  <a:srgbClr val="526170"/>
                </a:solidFill>
                <a:latin typeface="Aptos"/>
              </a:defRPr>
            </a:pPr>
            <a:r>
              <a:t>Same concurrency; batching differs</a:t>
            </a:r>
          </a:p>
        </p:txBody>
      </p:sp>
      <p:sp>
        <p:nvSpPr>
          <p:cNvPr id="17" name="TextBox 16"/>
          <p:cNvSpPr txBox="1"/>
          <p:nvPr/>
        </p:nvSpPr>
        <p:spPr>
          <a:xfrm>
            <a:off x="8138160" y="2441448"/>
            <a:ext cx="3291840" cy="512064"/>
          </a:xfrm>
          <a:prstGeom prst="rect">
            <a:avLst/>
          </a:prstGeom>
          <a:noFill/>
        </p:spPr>
        <p:txBody>
          <a:bodyPr wrap="square" lIns="0" rIns="0" tIns="0" bIns="0">
            <a:noAutofit/>
          </a:bodyPr>
          <a:lstStyle/>
          <a:p>
            <a:pPr algn="l">
              <a:spcBef>
                <a:spcPts val="0"/>
              </a:spcBef>
              <a:spcAft>
                <a:spcPts val="400"/>
              </a:spcAft>
              <a:defRPr sz="3400" b="1">
                <a:solidFill>
                  <a:srgbClr val="2563EB"/>
                </a:solidFill>
                <a:latin typeface="Aptos"/>
              </a:defRPr>
            </a:pPr>
            <a:r>
              <a:t>98.6%</a:t>
            </a:r>
          </a:p>
        </p:txBody>
      </p:sp>
      <p:sp>
        <p:nvSpPr>
          <p:cNvPr id="18" name="TextBox 17"/>
          <p:cNvSpPr txBox="1"/>
          <p:nvPr/>
        </p:nvSpPr>
        <p:spPr>
          <a:xfrm>
            <a:off x="8138160" y="2971800"/>
            <a:ext cx="3429000" cy="265176"/>
          </a:xfrm>
          <a:prstGeom prst="rect">
            <a:avLst/>
          </a:prstGeom>
          <a:noFill/>
        </p:spPr>
        <p:txBody>
          <a:bodyPr wrap="square" lIns="0" rIns="0" tIns="0" bIns="0">
            <a:noAutofit/>
          </a:bodyPr>
          <a:lstStyle/>
          <a:p>
            <a:pPr algn="l">
              <a:spcBef>
                <a:spcPts val="0"/>
              </a:spcBef>
              <a:spcAft>
                <a:spcPts val="400"/>
              </a:spcAft>
              <a:defRPr sz="1600" b="1">
                <a:solidFill>
                  <a:srgbClr val="17212B"/>
                </a:solidFill>
                <a:latin typeface="Aptos"/>
              </a:defRPr>
            </a:pPr>
            <a:r>
              <a:t>JEV quality-label accuracy</a:t>
            </a:r>
          </a:p>
        </p:txBody>
      </p:sp>
      <p:sp>
        <p:nvSpPr>
          <p:cNvPr id="19" name="TextBox 18"/>
          <p:cNvSpPr txBox="1"/>
          <p:nvPr/>
        </p:nvSpPr>
        <p:spPr>
          <a:xfrm>
            <a:off x="8138160" y="3246120"/>
            <a:ext cx="3429000" cy="173736"/>
          </a:xfrm>
          <a:prstGeom prst="rect">
            <a:avLst/>
          </a:prstGeom>
          <a:noFill/>
        </p:spPr>
        <p:txBody>
          <a:bodyPr wrap="square" lIns="0" rIns="0" tIns="0" bIns="0">
            <a:noAutofit/>
          </a:bodyPr>
          <a:lstStyle/>
          <a:p>
            <a:pPr algn="l">
              <a:spcBef>
                <a:spcPts val="0"/>
              </a:spcBef>
              <a:spcAft>
                <a:spcPts val="400"/>
              </a:spcAft>
              <a:defRPr sz="1150" b="0">
                <a:solidFill>
                  <a:srgbClr val="526170"/>
                </a:solidFill>
                <a:latin typeface="Aptos"/>
              </a:defRPr>
            </a:pPr>
            <a:r>
              <a:t>GPT-4o: 94.6%; designer labels</a:t>
            </a:r>
          </a:p>
        </p:txBody>
      </p:sp>
      <p:sp>
        <p:nvSpPr>
          <p:cNvPr id="20" name="TextBox 19"/>
          <p:cNvSpPr txBox="1"/>
          <p:nvPr/>
        </p:nvSpPr>
        <p:spPr>
          <a:xfrm>
            <a:off x="530352" y="3803904"/>
            <a:ext cx="5303520" cy="274320"/>
          </a:xfrm>
          <a:prstGeom prst="rect">
            <a:avLst/>
          </a:prstGeom>
          <a:noFill/>
        </p:spPr>
        <p:txBody>
          <a:bodyPr wrap="square" lIns="0" rIns="0" tIns="0" bIns="0">
            <a:noAutofit/>
          </a:bodyPr>
          <a:lstStyle/>
          <a:p>
            <a:pPr algn="l">
              <a:spcBef>
                <a:spcPts val="0"/>
              </a:spcBef>
              <a:spcAft>
                <a:spcPts val="400"/>
              </a:spcAft>
              <a:defRPr sz="1400" b="1">
                <a:solidFill>
                  <a:srgbClr val="007F78"/>
                </a:solidFill>
                <a:latin typeface="Aptos"/>
              </a:defRPr>
            </a:pPr>
            <a:r>
              <a:t>WHAT WAS TESTED</a:t>
            </a:r>
          </a:p>
        </p:txBody>
      </p:sp>
      <p:sp>
        <p:nvSpPr>
          <p:cNvPr id="21" name="TextBox 20"/>
          <p:cNvSpPr txBox="1"/>
          <p:nvPr/>
        </p:nvSpPr>
        <p:spPr>
          <a:xfrm>
            <a:off x="530352" y="4187952"/>
            <a:ext cx="5303520" cy="1325880"/>
          </a:xfrm>
          <a:prstGeom prst="rect">
            <a:avLst/>
          </a:prstGeom>
          <a:noFill/>
        </p:spPr>
        <p:txBody>
          <a:bodyPr wrap="square" lIns="0" rIns="0" tIns="0" bIns="0">
            <a:noAutofit/>
          </a:bodyPr>
          <a:lstStyle/>
          <a:p>
            <a:pPr algn="l">
              <a:spcBef>
                <a:spcPts val="0"/>
              </a:spcBef>
              <a:spcAft>
                <a:spcPts val="400"/>
              </a:spcAft>
              <a:defRPr sz="1800" b="0">
                <a:solidFill>
                  <a:srgbClr val="17212B"/>
                </a:solidFill>
                <a:latin typeface="Aptos"/>
              </a:defRPr>
            </a:pPr>
            <a:r>
              <a:t>35 synthetic ADI cases; 2 runs per judge.</a:t>
            </a:r>
          </a:p>
          <a:p>
            <a:pPr algn="l">
              <a:spcBef>
                <a:spcPts val="0"/>
              </a:spcBef>
              <a:spcAft>
                <a:spcPts val="400"/>
              </a:spcAft>
              <a:defRPr sz="1800" b="0">
                <a:solidFill>
                  <a:srgbClr val="17212B"/>
                </a:solidFill>
                <a:latin typeface="Aptos"/>
              </a:defRPr>
            </a:pPr>
            <a:r>
              <a:t>Five quality metrics + a correctness check.</a:t>
            </a:r>
          </a:p>
          <a:p>
            <a:pPr algn="l">
              <a:spcBef>
                <a:spcPts val="0"/>
              </a:spcBef>
              <a:spcAft>
                <a:spcPts val="400"/>
              </a:spcAft>
              <a:defRPr sz="1800" b="0">
                <a:solidFill>
                  <a:srgbClr val="17212B"/>
                </a:solidFill>
                <a:latin typeface="Aptos"/>
              </a:defRPr>
            </a:pPr>
            <a:r>
              <a:t>Concurrency 3; context cap 8,000 characters.</a:t>
            </a:r>
          </a:p>
        </p:txBody>
      </p:sp>
      <p:sp>
        <p:nvSpPr>
          <p:cNvPr id="22" name="TextBox 21"/>
          <p:cNvSpPr txBox="1"/>
          <p:nvPr/>
        </p:nvSpPr>
        <p:spPr>
          <a:xfrm>
            <a:off x="6291072" y="3803904"/>
            <a:ext cx="5367528" cy="274320"/>
          </a:xfrm>
          <a:prstGeom prst="rect">
            <a:avLst/>
          </a:prstGeom>
          <a:noFill/>
        </p:spPr>
        <p:txBody>
          <a:bodyPr wrap="square" lIns="0" rIns="0" tIns="0" bIns="0">
            <a:noAutofit/>
          </a:bodyPr>
          <a:lstStyle/>
          <a:p>
            <a:pPr algn="l">
              <a:spcBef>
                <a:spcPts val="0"/>
              </a:spcBef>
              <a:spcAft>
                <a:spcPts val="400"/>
              </a:spcAft>
              <a:defRPr sz="1400" b="1">
                <a:solidFill>
                  <a:srgbClr val="8A4B08"/>
                </a:solidFill>
                <a:latin typeface="Aptos"/>
              </a:defRPr>
            </a:pPr>
            <a:r>
              <a:t>WHAT IS NOT ESTABLISHED</a:t>
            </a:r>
          </a:p>
        </p:txBody>
      </p:sp>
      <p:sp>
        <p:nvSpPr>
          <p:cNvPr id="23" name="TextBox 22"/>
          <p:cNvSpPr txBox="1"/>
          <p:nvPr/>
        </p:nvSpPr>
        <p:spPr>
          <a:xfrm>
            <a:off x="6291072" y="4187952"/>
            <a:ext cx="5367528" cy="1325880"/>
          </a:xfrm>
          <a:prstGeom prst="rect">
            <a:avLst/>
          </a:prstGeom>
          <a:noFill/>
        </p:spPr>
        <p:txBody>
          <a:bodyPr wrap="square" lIns="0" rIns="0" tIns="0" bIns="0">
            <a:noAutofit/>
          </a:bodyPr>
          <a:lstStyle/>
          <a:p>
            <a:pPr algn="l">
              <a:spcBef>
                <a:spcPts val="0"/>
              </a:spcBef>
              <a:spcAft>
                <a:spcPts val="400"/>
              </a:spcAft>
              <a:defRPr sz="1800" b="0">
                <a:solidFill>
                  <a:srgbClr val="17212B"/>
                </a:solidFill>
                <a:latin typeface="Aptos"/>
              </a:defRPr>
            </a:pPr>
            <a:r>
              <a:t>GPT-4o-mini and SLMs were not tested.</a:t>
            </a:r>
          </a:p>
          <a:p>
            <a:pPr algn="l">
              <a:spcBef>
                <a:spcPts val="0"/>
              </a:spcBef>
              <a:spcAft>
                <a:spcPts val="400"/>
              </a:spcAft>
              <a:defRPr sz="1800" b="0">
                <a:solidFill>
                  <a:srgbClr val="17212B"/>
                </a:solidFill>
                <a:latin typeface="Aptos"/>
              </a:defRPr>
            </a:pPr>
            <a:r>
              <a:t>No proof of replacing answer generation.</a:t>
            </a:r>
          </a:p>
          <a:p>
            <a:pPr algn="l">
              <a:spcBef>
                <a:spcPts val="0"/>
              </a:spcBef>
              <a:spcAft>
                <a:spcPts val="400"/>
              </a:spcAft>
              <a:defRPr sz="1800" b="0">
                <a:solidFill>
                  <a:srgbClr val="17212B"/>
                </a:solidFill>
                <a:latin typeface="Aptos"/>
              </a:defRPr>
            </a:pPr>
            <a:r>
              <a:t>No production uptime or compliance validation.</a:t>
            </a:r>
          </a:p>
        </p:txBody>
      </p:sp>
      <p:sp>
        <p:nvSpPr>
          <p:cNvPr id="24" name="Rectangle 23"/>
          <p:cNvSpPr/>
          <p:nvPr/>
        </p:nvSpPr>
        <p:spPr>
          <a:xfrm>
            <a:off x="530352" y="5824728"/>
            <a:ext cx="11128248" cy="393192"/>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897880"/>
            <a:ext cx="10799064" cy="228600"/>
          </a:xfrm>
          <a:prstGeom prst="rect">
            <a:avLst/>
          </a:prstGeom>
          <a:noFill/>
        </p:spPr>
        <p:txBody>
          <a:bodyPr wrap="square" lIns="0" rIns="0" tIns="0" bIns="0">
            <a:noAutofit/>
          </a:bodyPr>
          <a:lstStyle/>
          <a:p>
            <a:pPr algn="l">
              <a:spcBef>
                <a:spcPts val="0"/>
              </a:spcBef>
              <a:spcAft>
                <a:spcPts val="400"/>
              </a:spcAft>
              <a:defRPr sz="1500" b="1">
                <a:solidFill>
                  <a:srgbClr val="8A4B08"/>
                </a:solidFill>
                <a:latin typeface="Aptos"/>
              </a:defRPr>
            </a:pPr>
            <a:r>
              <a:t>Decision requested: approve an independently labelled validation pilot, not a model replacement.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Different model roles, not just different prices</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Sources: implemented evaluator APIs and workbook Setup. GPT-4o-mini / SLM column describes options, not results.</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02 / 08</a:t>
            </a:r>
          </a:p>
        </p:txBody>
      </p:sp>
      <p:sp>
        <p:nvSpPr>
          <p:cNvPr id="9" name="TextBox 8"/>
          <p:cNvSpPr txBox="1"/>
          <p:nvPr/>
        </p:nvSpPr>
        <p:spPr>
          <a:xfrm>
            <a:off x="530352" y="1353312"/>
            <a:ext cx="11128248" cy="347472"/>
          </a:xfrm>
          <a:prstGeom prst="rect">
            <a:avLst/>
          </a:prstGeom>
          <a:noFill/>
        </p:spPr>
        <p:txBody>
          <a:bodyPr wrap="square" lIns="0" rIns="0" tIns="0" bIns="0">
            <a:noAutofit/>
          </a:bodyPr>
          <a:lstStyle/>
          <a:p>
            <a:pPr algn="l">
              <a:spcBef>
                <a:spcPts val="0"/>
              </a:spcBef>
              <a:spcAft>
                <a:spcPts val="400"/>
              </a:spcAft>
              <a:defRPr sz="1700" b="0">
                <a:solidFill>
                  <a:srgbClr val="526170"/>
                </a:solidFill>
                <a:latin typeface="Aptos"/>
              </a:defRPr>
            </a:pPr>
            <a:r>
              <a:t>JEV offers structured decisions; generative models retain broader language output and review capability.</a:t>
            </a:r>
          </a:p>
        </p:txBody>
      </p:sp>
      <p:graphicFrame>
        <p:nvGraphicFramePr>
          <p:cNvPr id="10" name="Table 9"/>
          <p:cNvGraphicFramePr>
            <a:graphicFrameLocks noGrp="1"/>
          </p:cNvGraphicFramePr>
          <p:nvPr/>
        </p:nvGraphicFramePr>
        <p:xfrm>
          <a:off x="530352" y="1856231"/>
          <a:ext cx="11128248" cy="3931920"/>
        </p:xfrm>
        <a:graphic>
          <a:graphicData uri="http://schemas.openxmlformats.org/drawingml/2006/table">
            <a:tbl>
              <a:tblPr firstRow="1" bandRow="1">
                <a:tableStyleId>{5C22544A-7EE6-4342-B048-85BDC9FD1C3A}</a:tableStyleId>
              </a:tblPr>
              <a:tblGrid>
                <a:gridCol w="1828800"/>
                <a:gridCol w="2990088"/>
                <a:gridCol w="3063240"/>
                <a:gridCol w="3246120"/>
              </a:tblGrid>
              <a:tr h="457200">
                <a:tc>
                  <a:txBody>
                    <a:bodyPr/>
                    <a:lstStyle/>
                    <a:p>
                      <a:pPr>
                        <a:spcBef>
                          <a:spcPts val="0"/>
                        </a:spcBef>
                        <a:spcAft>
                          <a:spcPts val="0"/>
                        </a:spcAft>
                        <a:defRPr sz="1600" b="1">
                          <a:solidFill>
                            <a:srgbClr val="FFFFFF"/>
                          </a:solidFill>
                          <a:latin typeface="Aptos"/>
                        </a:defRPr>
                      </a:pPr>
                      <a:r>
                        <a:t>Dimension</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GPT-4o judge</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GPT-4o-mini / SLM</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JEV</a:t>
                      </a:r>
                    </a:p>
                  </a:txBody>
                  <a:tcPr marL="118872" marR="118872" marT="45720" marB="45720" anchor="ctr">
                    <a:solidFill>
                      <a:srgbClr val="2563EB"/>
                    </a:solidFill>
                  </a:tcPr>
                </a:tc>
              </a:tr>
              <a:tr h="694944">
                <a:tc>
                  <a:txBody>
                    <a:bodyPr/>
                    <a:lstStyle/>
                    <a:p>
                      <a:pPr>
                        <a:spcBef>
                          <a:spcPts val="0"/>
                        </a:spcBef>
                        <a:spcAft>
                          <a:spcPts val="0"/>
                        </a:spcAft>
                        <a:defRPr sz="1600" b="1">
                          <a:solidFill>
                            <a:srgbClr val="17212B"/>
                          </a:solidFill>
                          <a:latin typeface="Aptos"/>
                        </a:defRPr>
                      </a:pPr>
                      <a:r>
                        <a:t>Core approach</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Generates JSON scores</a:t>
                      </a:r>
                    </a:p>
                    <a:p>
                      <a:pPr>
                        <a:spcBef>
                          <a:spcPts val="0"/>
                        </a:spcBef>
                        <a:spcAft>
                          <a:spcPts val="0"/>
                        </a:spcAft>
                        <a:defRPr sz="1600" b="0">
                          <a:solidFill>
                            <a:srgbClr val="17212B"/>
                          </a:solidFill>
                          <a:latin typeface="Aptos"/>
                        </a:defRPr>
                      </a:pPr>
                      <a:r>
                        <a:t>and written reasons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Generative judging; SLM</a:t>
                      </a:r>
                    </a:p>
                    <a:p>
                      <a:pPr>
                        <a:spcBef>
                          <a:spcPts val="0"/>
                        </a:spcBef>
                        <a:spcAft>
                          <a:spcPts val="0"/>
                        </a:spcAft>
                        <a:defRPr sz="1600" b="0">
                          <a:solidFill>
                            <a:srgbClr val="17212B"/>
                          </a:solidFill>
                          <a:latin typeface="Aptos"/>
                        </a:defRPr>
                      </a:pPr>
                      <a:r>
                        <a:t>depends on chosen model</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Typed Score decisions;</a:t>
                      </a:r>
                    </a:p>
                    <a:p>
                      <a:pPr>
                        <a:spcBef>
                          <a:spcPts val="0"/>
                        </a:spcBef>
                        <a:spcAft>
                          <a:spcPts val="0"/>
                        </a:spcAft>
                        <a:defRPr sz="1600" b="0">
                          <a:solidFill>
                            <a:srgbClr val="17212B"/>
                          </a:solidFill>
                          <a:latin typeface="Aptos"/>
                        </a:defRPr>
                      </a:pPr>
                      <a:r>
                        <a:t>probabilities + confidence</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Integration</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Prompt + query, answer</a:t>
                      </a:r>
                    </a:p>
                    <a:p>
                      <a:pPr>
                        <a:spcBef>
                          <a:spcPts val="0"/>
                        </a:spcBef>
                        <a:spcAft>
                          <a:spcPts val="0"/>
                        </a:spcAft>
                        <a:defRPr sz="1600" b="0">
                          <a:solidFill>
                            <a:srgbClr val="17212B"/>
                          </a:solidFill>
                          <a:latin typeface="Aptos"/>
                        </a:defRPr>
                      </a:pPr>
                      <a:r>
                        <a:t>and retrieved context</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Prompt / tuning;</a:t>
                      </a:r>
                    </a:p>
                    <a:p>
                      <a:pPr>
                        <a:spcBef>
                          <a:spcPts val="0"/>
                        </a:spcBef>
                        <a:spcAft>
                          <a:spcPts val="0"/>
                        </a:spcAft>
                        <a:defRPr sz="1600" b="0">
                          <a:solidFill>
                            <a:srgbClr val="17212B"/>
                          </a:solidFill>
                          <a:latin typeface="Aptos"/>
                        </a:defRPr>
                      </a:pPr>
                      <a:r>
                        <a:t>validation required</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State + rubric questions;</a:t>
                      </a:r>
                    </a:p>
                    <a:p>
                      <a:pPr>
                        <a:spcBef>
                          <a:spcPts val="0"/>
                        </a:spcBef>
                        <a:spcAft>
                          <a:spcPts val="0"/>
                        </a:spcAft>
                        <a:defRPr sz="1600" b="0">
                          <a:solidFill>
                            <a:srgbClr val="17212B"/>
                          </a:solidFill>
                          <a:latin typeface="Aptos"/>
                        </a:defRPr>
                      </a:pPr>
                      <a:r>
                        <a:t>5 quality metrics per call</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Best-fit role</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Complex review;</a:t>
                      </a:r>
                    </a:p>
                    <a:p>
                      <a:pPr>
                        <a:spcBef>
                          <a:spcPts val="0"/>
                        </a:spcBef>
                        <a:spcAft>
                          <a:spcPts val="0"/>
                        </a:spcAft>
                        <a:defRPr sz="1600" b="0">
                          <a:solidFill>
                            <a:srgbClr val="17212B"/>
                          </a:solidFill>
                          <a:latin typeface="Aptos"/>
                        </a:defRPr>
                      </a:pPr>
                      <a:r>
                        <a:t>explanations; escalation</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Candidate low-cost judge</a:t>
                      </a:r>
                    </a:p>
                    <a:p>
                      <a:pPr>
                        <a:spcBef>
                          <a:spcPts val="0"/>
                        </a:spcBef>
                        <a:spcAft>
                          <a:spcPts val="0"/>
                        </a:spcAft>
                        <a:defRPr sz="1600" b="0">
                          <a:solidFill>
                            <a:srgbClr val="17212B"/>
                          </a:solidFill>
                          <a:latin typeface="Aptos"/>
                        </a:defRPr>
                      </a:pPr>
                      <a:r>
                        <a:t>or answer-generation model</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Routine scoring; guardrail /</a:t>
                      </a:r>
                    </a:p>
                    <a:p>
                      <a:pPr>
                        <a:spcBef>
                          <a:spcPts val="0"/>
                        </a:spcBef>
                        <a:spcAft>
                          <a:spcPts val="0"/>
                        </a:spcAft>
                        <a:defRPr sz="1600" b="0">
                          <a:solidFill>
                            <a:srgbClr val="17212B"/>
                          </a:solidFill>
                          <a:latin typeface="Aptos"/>
                        </a:defRPr>
                      </a:pPr>
                      <a:r>
                        <a:t>routing candidates to test</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Trade-off</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Flexible; explanation cost;</a:t>
                      </a:r>
                    </a:p>
                    <a:p>
                      <a:pPr>
                        <a:spcBef>
                          <a:spcPts val="0"/>
                        </a:spcBef>
                        <a:spcAft>
                          <a:spcPts val="0"/>
                        </a:spcAft>
                        <a:defRPr sz="1600" b="0">
                          <a:solidFill>
                            <a:srgbClr val="17212B"/>
                          </a:solidFill>
                          <a:latin typeface="Aptos"/>
                        </a:defRPr>
                      </a:pPr>
                      <a:r>
                        <a:t>prompt / parsing sensitivity</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Quality and cost depend on</a:t>
                      </a:r>
                    </a:p>
                    <a:p>
                      <a:pPr>
                        <a:spcBef>
                          <a:spcPts val="0"/>
                        </a:spcBef>
                        <a:spcAft>
                          <a:spcPts val="0"/>
                        </a:spcAft>
                        <a:defRPr sz="1600" b="0">
                          <a:solidFill>
                            <a:srgbClr val="17212B"/>
                          </a:solidFill>
                          <a:latin typeface="Aptos"/>
                        </a:defRPr>
                      </a:pPr>
                      <a:r>
                        <a:t>model, hosting and tuning</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No generated rationale;</a:t>
                      </a:r>
                    </a:p>
                    <a:p>
                      <a:pPr>
                        <a:spcBef>
                          <a:spcPts val="0"/>
                        </a:spcBef>
                        <a:spcAft>
                          <a:spcPts val="0"/>
                        </a:spcAft>
                        <a:defRPr sz="1600" b="0">
                          <a:solidFill>
                            <a:srgbClr val="17212B"/>
                          </a:solidFill>
                          <a:latin typeface="Aptos"/>
                        </a:defRPr>
                      </a:pPr>
                      <a:r>
                        <a:t>rubric / threshold sensitivity</a:t>
                      </a:r>
                    </a:p>
                  </a:txBody>
                  <a:tcPr marL="118872" marR="118872" marT="45720" marB="45720" anchor="ctr">
                    <a:solidFill>
                      <a:srgbClr val="EDF8F5"/>
                    </a:solidFill>
                  </a:tcPr>
                </a:tc>
              </a:tr>
              <a:tr h="694944">
                <a:tc>
                  <a:txBody>
                    <a:bodyPr/>
                    <a:lstStyle/>
                    <a:p>
                      <a:pPr>
                        <a:spcBef>
                          <a:spcPts val="0"/>
                        </a:spcBef>
                        <a:spcAft>
                          <a:spcPts val="0"/>
                        </a:spcAft>
                        <a:defRPr sz="1600" b="1">
                          <a:solidFill>
                            <a:srgbClr val="17212B"/>
                          </a:solidFill>
                          <a:latin typeface="Aptos"/>
                        </a:defRPr>
                      </a:pPr>
                      <a:r>
                        <a:t>Evidence today</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35 cases x 2 runs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Not benchmarked;</a:t>
                      </a:r>
                    </a:p>
                    <a:p>
                      <a:pPr>
                        <a:spcBef>
                          <a:spcPts val="0"/>
                        </a:spcBef>
                        <a:spcAft>
                          <a:spcPts val="0"/>
                        </a:spcAft>
                        <a:defRPr sz="1600" b="0">
                          <a:solidFill>
                            <a:srgbClr val="17212B"/>
                          </a:solidFill>
                          <a:latin typeface="Aptos"/>
                        </a:defRPr>
                      </a:pPr>
                      <a:r>
                        <a:t>no ranking supported</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35 cases x 2 runs;</a:t>
                      </a:r>
                    </a:p>
                    <a:p>
                      <a:pPr>
                        <a:spcBef>
                          <a:spcPts val="0"/>
                        </a:spcBef>
                        <a:spcAft>
                          <a:spcPts val="0"/>
                        </a:spcAft>
                        <a:defRPr sz="1600" b="0">
                          <a:solidFill>
                            <a:srgbClr val="17212B"/>
                          </a:solidFill>
                          <a:latin typeface="Aptos"/>
                        </a:defRPr>
                      </a:pPr>
                      <a:r>
                        <a:t>model jev-1.13.0</a:t>
                      </a:r>
                    </a:p>
                  </a:txBody>
                  <a:tcPr marL="118872" marR="118872" marT="45720" marB="45720" anchor="ctr">
                    <a:solidFill>
                      <a:srgbClr val="EDF8F5"/>
                    </a:solidFill>
                  </a:tcPr>
                </a:tc>
              </a:tr>
            </a:tbl>
          </a:graphicData>
        </a:graphic>
      </p:graphicFrame>
      <p:sp>
        <p:nvSpPr>
          <p:cNvPr id="11" name="TextBox 10"/>
          <p:cNvSpPr txBox="1"/>
          <p:nvPr/>
        </p:nvSpPr>
        <p:spPr>
          <a:xfrm>
            <a:off x="530352" y="5971032"/>
            <a:ext cx="11128248" cy="274320"/>
          </a:xfrm>
          <a:prstGeom prst="rect">
            <a:avLst/>
          </a:prstGeom>
          <a:noFill/>
        </p:spPr>
        <p:txBody>
          <a:bodyPr wrap="square" lIns="0" rIns="0" tIns="0" bIns="0">
            <a:noAutofit/>
          </a:bodyPr>
          <a:lstStyle/>
          <a:p>
            <a:pPr algn="l">
              <a:spcBef>
                <a:spcPts val="0"/>
              </a:spcBef>
              <a:spcAft>
                <a:spcPts val="400"/>
              </a:spcAft>
              <a:defRPr sz="1300" b="0">
                <a:solidFill>
                  <a:srgbClr val="526170"/>
                </a:solidFill>
                <a:latin typeface="Aptos"/>
              </a:defRPr>
            </a:pPr>
            <a:r>
              <a:t>SLM = small language model, not one specific model. Select the model and deployment before comparing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Same 0-1 range, different scoring mathematics</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Sources: adi_gt_evaluator.py metric prompts; jev_judge.py rubrics and score normalization.</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03 / 08</a:t>
            </a:r>
          </a:p>
        </p:txBody>
      </p:sp>
      <p:sp>
        <p:nvSpPr>
          <p:cNvPr id="9" name="TextBox 8"/>
          <p:cNvSpPr txBox="1"/>
          <p:nvPr/>
        </p:nvSpPr>
        <p:spPr>
          <a:xfrm>
            <a:off x="530352" y="1353312"/>
            <a:ext cx="11128248" cy="274320"/>
          </a:xfrm>
          <a:prstGeom prst="rect">
            <a:avLst/>
          </a:prstGeom>
          <a:noFill/>
        </p:spPr>
        <p:txBody>
          <a:bodyPr wrap="square" lIns="0" rIns="0" tIns="0" bIns="0">
            <a:noAutofit/>
          </a:bodyPr>
          <a:lstStyle/>
          <a:p>
            <a:pPr algn="l">
              <a:spcBef>
                <a:spcPts val="0"/>
              </a:spcBef>
              <a:spcAft>
                <a:spcPts val="400"/>
              </a:spcAft>
              <a:defRPr sz="1600" b="0">
                <a:solidFill>
                  <a:srgbClr val="526170"/>
                </a:solidFill>
                <a:latin typeface="Aptos"/>
              </a:defRPr>
            </a:pPr>
            <a:r>
              <a:t>Quality metrics use the query, answer and context. Correctness additionally needs the SME's corrected answer.</a:t>
            </a:r>
          </a:p>
        </p:txBody>
      </p:sp>
      <p:graphicFrame>
        <p:nvGraphicFramePr>
          <p:cNvPr id="10" name="Table 9"/>
          <p:cNvGraphicFramePr>
            <a:graphicFrameLocks noGrp="1"/>
          </p:cNvGraphicFramePr>
          <p:nvPr/>
        </p:nvGraphicFramePr>
        <p:xfrm>
          <a:off x="530352" y="1810512"/>
          <a:ext cx="11128248" cy="3931920"/>
        </p:xfrm>
        <a:graphic>
          <a:graphicData uri="http://schemas.openxmlformats.org/drawingml/2006/table">
            <a:tbl>
              <a:tblPr firstRow="1" bandRow="1">
                <a:tableStyleId>{5C22544A-7EE6-4342-B048-85BDC9FD1C3A}</a:tableStyleId>
              </a:tblPr>
              <a:tblGrid>
                <a:gridCol w="2103120"/>
                <a:gridCol w="4681728"/>
                <a:gridCol w="4343400"/>
              </a:tblGrid>
              <a:tr h="420624">
                <a:tc>
                  <a:txBody>
                    <a:bodyPr/>
                    <a:lstStyle/>
                    <a:p>
                      <a:pPr>
                        <a:spcBef>
                          <a:spcPts val="0"/>
                        </a:spcBef>
                        <a:spcAft>
                          <a:spcPts val="0"/>
                        </a:spcAft>
                        <a:defRPr sz="1600" b="1">
                          <a:solidFill>
                            <a:srgbClr val="FFFFFF"/>
                          </a:solidFill>
                          <a:latin typeface="Aptos"/>
                        </a:defRPr>
                      </a:pPr>
                      <a:r>
                        <a:t>Metric</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GPT-4o: prompt-directed scoring</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JEV: probabilistic rubric scoring</a:t>
                      </a:r>
                    </a:p>
                  </a:txBody>
                  <a:tcPr marL="118872" marR="118872" marT="45720" marB="45720" anchor="ctr">
                    <a:solidFill>
                      <a:srgbClr val="2563EB"/>
                    </a:solidFill>
                  </a:tcPr>
                </a:tc>
              </a:tr>
              <a:tr h="585216">
                <a:tc>
                  <a:txBody>
                    <a:bodyPr/>
                    <a:lstStyle/>
                    <a:p>
                      <a:pPr>
                        <a:spcBef>
                          <a:spcPts val="0"/>
                        </a:spcBef>
                        <a:spcAft>
                          <a:spcPts val="0"/>
                        </a:spcAft>
                        <a:defRPr sz="1600" b="1">
                          <a:solidFill>
                            <a:srgbClr val="17212B"/>
                          </a:solidFill>
                          <a:latin typeface="Aptos"/>
                        </a:defRPr>
                      </a:pPr>
                      <a:r>
                        <a:t>Faithfulness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Supported atomic claims / all factual claims.</a:t>
                      </a:r>
                    </a:p>
                    <a:p>
                      <a:pPr>
                        <a:spcBef>
                          <a:spcPts val="0"/>
                        </a:spcBef>
                        <a:spcAft>
                          <a:spcPts val="0"/>
                        </a:spcAft>
                        <a:defRPr sz="1600" b="0">
                          <a:solidFill>
                            <a:srgbClr val="17212B"/>
                          </a:solidFill>
                          <a:latin typeface="Aptos"/>
                        </a:defRPr>
                      </a:pPr>
                      <a:r>
                        <a:t>No factual claims -&gt; 1.0.</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4 support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Answer relevance</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On-topic response statements /</a:t>
                      </a:r>
                    </a:p>
                    <a:p>
                      <a:pPr>
                        <a:spcBef>
                          <a:spcPts val="0"/>
                        </a:spcBef>
                        <a:spcAft>
                          <a:spcPts val="0"/>
                        </a:spcAft>
                        <a:defRPr sz="1600" b="0">
                          <a:solidFill>
                            <a:srgbClr val="17212B"/>
                          </a:solidFill>
                          <a:latin typeface="Aptos"/>
                        </a:defRPr>
                      </a:pPr>
                      <a:r>
                        <a:t>all response statements; ignore accuracy.</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4 on-topic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Context relevance</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Relevant retrieved-context statements /</a:t>
                      </a:r>
                    </a:p>
                    <a:p>
                      <a:pPr>
                        <a:spcBef>
                          <a:spcPts val="0"/>
                        </a:spcBef>
                        <a:spcAft>
                          <a:spcPts val="0"/>
                        </a:spcAft>
                        <a:defRPr sz="1600" b="0">
                          <a:solidFill>
                            <a:srgbClr val="17212B"/>
                          </a:solidFill>
                          <a:latin typeface="Aptos"/>
                        </a:defRPr>
                      </a:pPr>
                      <a:r>
                        <a:t>all retrieved-context statements.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4 retrieval-relevance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Toxicity</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G-Eval raw 1-5 -&gt; (raw - 1) / 4.</a:t>
                      </a:r>
                    </a:p>
                    <a:p>
                      <a:pPr>
                        <a:spcBef>
                          <a:spcPts val="0"/>
                        </a:spcBef>
                        <a:spcAft>
                          <a:spcPts val="0"/>
                        </a:spcAft>
                        <a:defRPr sz="1600" b="0">
                          <a:solidFill>
                            <a:srgbClr val="17212B"/>
                          </a:solidFill>
                          <a:latin typeface="Aptos"/>
                        </a:defRPr>
                      </a:pPr>
                      <a:r>
                        <a:t>Lower = safer.</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4 severity levels (0-3);</a:t>
                      </a:r>
                    </a:p>
                    <a:p>
                      <a:pPr>
                        <a:spcBef>
                          <a:spcPts val="0"/>
                        </a:spcBef>
                        <a:spcAft>
                          <a:spcPts val="0"/>
                        </a:spcAft>
                        <a:defRPr sz="1600" b="0">
                          <a:solidFill>
                            <a:srgbClr val="17212B"/>
                          </a:solidFill>
                          <a:latin typeface="Aptos"/>
                        </a:defRPr>
                      </a:pPr>
                      <a:r>
                        <a:t>expected level / 3; lower = safer.</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Tone</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G-Eval raw 1-5 -&gt; (raw - 1) / 4.</a:t>
                      </a:r>
                    </a:p>
                    <a:p>
                      <a:pPr>
                        <a:spcBef>
                          <a:spcPts val="0"/>
                        </a:spcBef>
                        <a:spcAft>
                          <a:spcPts val="0"/>
                        </a:spcAft>
                        <a:defRPr sz="1600" b="0">
                          <a:solidFill>
                            <a:srgbClr val="17212B"/>
                          </a:solidFill>
                          <a:latin typeface="Aptos"/>
                        </a:defRPr>
                      </a:pPr>
                      <a:r>
                        <a:t>Higher = more professional.</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4 professional-tone levels (0-3);</a:t>
                      </a:r>
                    </a:p>
                    <a:p>
                      <a:pPr>
                        <a:spcBef>
                          <a:spcPts val="0"/>
                        </a:spcBef>
                        <a:spcAft>
                          <a:spcPts val="0"/>
                        </a:spcAft>
                        <a:defRPr sz="1600" b="0">
                          <a:solidFill>
                            <a:srgbClr val="17212B"/>
                          </a:solidFill>
                          <a:latin typeface="Aptos"/>
                        </a:defRPr>
                      </a:pPr>
                      <a:r>
                        <a:t>expected level / 3.</a:t>
                      </a:r>
                    </a:p>
                  </a:txBody>
                  <a:tcPr marL="118872" marR="118872" marT="45720" marB="45720" anchor="ctr">
                    <a:solidFill>
                      <a:srgbClr val="EDF8F5"/>
                    </a:solidFill>
                  </a:tcPr>
                </a:tc>
              </a:tr>
              <a:tr h="585216">
                <a:tc>
                  <a:txBody>
                    <a:bodyPr/>
                    <a:lstStyle/>
                    <a:p>
                      <a:pPr>
                        <a:spcBef>
                          <a:spcPts val="0"/>
                        </a:spcBef>
                        <a:spcAft>
                          <a:spcPts val="0"/>
                        </a:spcAft>
                        <a:defRPr sz="1600" b="1">
                          <a:solidFill>
                            <a:srgbClr val="17212B"/>
                          </a:solidFill>
                          <a:latin typeface="Aptos"/>
                        </a:defRPr>
                      </a:pPr>
                      <a:r>
                        <a:t>Correctness</a:t>
                      </a:r>
                    </a:p>
                    <a:p>
                      <a:pPr>
                        <a:spcBef>
                          <a:spcPts val="0"/>
                        </a:spcBef>
                        <a:spcAft>
                          <a:spcPts val="0"/>
                        </a:spcAft>
                        <a:defRPr sz="1600" b="1">
                          <a:solidFill>
                            <a:srgbClr val="17212B"/>
                          </a:solidFill>
                          <a:latin typeface="Aptos"/>
                        </a:defRPr>
                      </a:pPr>
                      <a:r>
                        <a:t>(GT required)</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Semantic match to SME correction;</a:t>
                      </a:r>
                    </a:p>
                    <a:p>
                      <a:pPr>
                        <a:spcBef>
                          <a:spcPts val="0"/>
                        </a:spcBef>
                        <a:spcAft>
                          <a:spcPts val="0"/>
                        </a:spcAft>
                        <a:defRPr sz="1600" b="0">
                          <a:solidFill>
                            <a:srgbClr val="17212B"/>
                          </a:solidFill>
                          <a:latin typeface="Aptos"/>
                        </a:defRPr>
                      </a:pPr>
                      <a:r>
                        <a:t>0 / 0.5 / 1 on applicable rows.</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3 semantic-match levels (0-2);</a:t>
                      </a:r>
                    </a:p>
                    <a:p>
                      <a:pPr>
                        <a:spcBef>
                          <a:spcPts val="0"/>
                        </a:spcBef>
                        <a:spcAft>
                          <a:spcPts val="0"/>
                        </a:spcAft>
                        <a:defRPr sz="1600" b="0">
                          <a:solidFill>
                            <a:srgbClr val="17212B"/>
                          </a:solidFill>
                          <a:latin typeface="Aptos"/>
                        </a:defRPr>
                      </a:pPr>
                      <a:r>
                        <a:t>expected level / 2 on applicable rows.</a:t>
                      </a:r>
                    </a:p>
                  </a:txBody>
                  <a:tcPr marL="118872" marR="118872" marT="45720" marB="45720" anchor="ctr">
                    <a:solidFill>
                      <a:srgbClr val="EDF8F5"/>
                    </a:solidFill>
                  </a:tcPr>
                </a:tc>
              </a:tr>
            </a:tbl>
          </a:graphicData>
        </a:graphic>
      </p:graphicFrame>
      <p:sp>
        <p:nvSpPr>
          <p:cNvPr id="11" name="TextBox 10"/>
          <p:cNvSpPr txBox="1"/>
          <p:nvPr/>
        </p:nvSpPr>
        <p:spPr>
          <a:xfrm>
            <a:off x="530352" y="5861304"/>
            <a:ext cx="11128248" cy="237744"/>
          </a:xfrm>
          <a:prstGeom prst="rect">
            <a:avLst/>
          </a:prstGeom>
          <a:noFill/>
        </p:spPr>
        <p:txBody>
          <a:bodyPr wrap="square" lIns="0" rIns="0" tIns="0" bIns="0">
            <a:noAutofit/>
          </a:bodyPr>
          <a:lstStyle/>
          <a:p>
            <a:pPr algn="l">
              <a:spcBef>
                <a:spcPts val="0"/>
              </a:spcBef>
              <a:spcAft>
                <a:spcPts val="400"/>
              </a:spcAft>
              <a:defRPr sz="1400" b="1">
                <a:solidFill>
                  <a:srgbClr val="007F78"/>
                </a:solidFill>
                <a:latin typeface="Aptos"/>
              </a:defRPr>
            </a:pPr>
            <a:r>
              <a:t>JEV raw = sum(level x probability). Example: [0.10, 0.20, 0.30, 0.40] -&gt; 2.00 / 3 = 0.667.</a:t>
            </a:r>
          </a:p>
        </p:txBody>
      </p:sp>
      <p:sp>
        <p:nvSpPr>
          <p:cNvPr id="12" name="TextBox 11"/>
          <p:cNvSpPr txBox="1"/>
          <p:nvPr/>
        </p:nvSpPr>
        <p:spPr>
          <a:xfrm>
            <a:off x="530352" y="6153912"/>
            <a:ext cx="11128248" cy="192024"/>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GPT ratios are model estimates, not independently counted claims. JEV confidence is separate from the score.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Five quality metrics without ground-truth answers</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 comparison workbook / Agreement. Means and verdict agreement averaged over 2 runs, 35 cases each.</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04 / 08</a:t>
            </a:r>
          </a:p>
        </p:txBody>
      </p:sp>
      <p:sp>
        <p:nvSpPr>
          <p:cNvPr id="9" name="TextBox 8"/>
          <p:cNvSpPr txBox="1"/>
          <p:nvPr/>
        </p:nvSpPr>
        <p:spPr>
          <a:xfrm>
            <a:off x="530352" y="1353312"/>
            <a:ext cx="11128248" cy="274320"/>
          </a:xfrm>
          <a:prstGeom prst="rect">
            <a:avLst/>
          </a:prstGeom>
          <a:noFill/>
        </p:spPr>
        <p:txBody>
          <a:bodyPr wrap="square" lIns="0" rIns="0" tIns="0" bIns="0">
            <a:noAutofit/>
          </a:bodyPr>
          <a:lstStyle/>
          <a:p>
            <a:pPr algn="l">
              <a:spcBef>
                <a:spcPts val="0"/>
              </a:spcBef>
              <a:spcAft>
                <a:spcPts val="400"/>
              </a:spcAft>
              <a:defRPr sz="1700" b="0">
                <a:solidFill>
                  <a:srgbClr val="526170"/>
                </a:solidFill>
                <a:latin typeface="Aptos"/>
              </a:defRPr>
            </a:pPr>
            <a:r>
              <a:t>These metrics need no SME reference answer. Inter-judge agreement is not a measure of accuracy.</a:t>
            </a:r>
          </a:p>
        </p:txBody>
      </p:sp>
      <p:graphicFrame>
        <p:nvGraphicFramePr>
          <p:cNvPr id="10" name="Table 9"/>
          <p:cNvGraphicFramePr>
            <a:graphicFrameLocks noGrp="1"/>
          </p:cNvGraphicFramePr>
          <p:nvPr/>
        </p:nvGraphicFramePr>
        <p:xfrm>
          <a:off x="530352" y="1883664"/>
          <a:ext cx="11128248" cy="3291840"/>
        </p:xfrm>
        <a:graphic>
          <a:graphicData uri="http://schemas.openxmlformats.org/drawingml/2006/table">
            <a:tbl>
              <a:tblPr firstRow="1" bandRow="1">
                <a:tableStyleId>{5C22544A-7EE6-4342-B048-85BDC9FD1C3A}</a:tableStyleId>
              </a:tblPr>
              <a:tblGrid>
                <a:gridCol w="2468880"/>
                <a:gridCol w="1252728"/>
                <a:gridCol w="2057400"/>
                <a:gridCol w="2057400"/>
                <a:gridCol w="3291840"/>
              </a:tblGrid>
              <a:tr h="502920">
                <a:tc>
                  <a:txBody>
                    <a:bodyPr/>
                    <a:lstStyle/>
                    <a:p>
                      <a:pPr>
                        <a:spcBef>
                          <a:spcPts val="0"/>
                        </a:spcBef>
                        <a:spcAft>
                          <a:spcPts val="0"/>
                        </a:spcAft>
                        <a:defRPr sz="1700" b="1">
                          <a:solidFill>
                            <a:srgbClr val="FFFFFF"/>
                          </a:solidFill>
                          <a:latin typeface="Aptos"/>
                        </a:defRPr>
                      </a:pPr>
                      <a:r>
                        <a:t>Quality metric</a:t>
                      </a:r>
                    </a:p>
                  </a:txBody>
                  <a:tcPr marL="118872" marR="118872" marT="45720" marB="45720" anchor="ctr">
                    <a:solidFill>
                      <a:srgbClr val="2563EB"/>
                    </a:solidFill>
                  </a:tcPr>
                </a:tc>
                <a:tc>
                  <a:txBody>
                    <a:bodyPr/>
                    <a:lstStyle/>
                    <a:p>
                      <a:pPr>
                        <a:spcBef>
                          <a:spcPts val="0"/>
                        </a:spcBef>
                        <a:spcAft>
                          <a:spcPts val="0"/>
                        </a:spcAft>
                        <a:defRPr sz="1700" b="1">
                          <a:solidFill>
                            <a:srgbClr val="FFFFFF"/>
                          </a:solidFill>
                          <a:latin typeface="Aptos"/>
                        </a:defRPr>
                      </a:pPr>
                      <a:r>
                        <a:t>Better</a:t>
                      </a:r>
                    </a:p>
                  </a:txBody>
                  <a:tcPr marL="118872" marR="118872" marT="45720" marB="45720" anchor="ctr">
                    <a:solidFill>
                      <a:srgbClr val="2563EB"/>
                    </a:solidFill>
                  </a:tcPr>
                </a:tc>
                <a:tc>
                  <a:txBody>
                    <a:bodyPr/>
                    <a:lstStyle/>
                    <a:p>
                      <a:pPr algn="ctr">
                        <a:spcBef>
                          <a:spcPts val="0"/>
                        </a:spcBef>
                        <a:spcAft>
                          <a:spcPts val="0"/>
                        </a:spcAft>
                        <a:defRPr sz="1700" b="1">
                          <a:solidFill>
                            <a:srgbClr val="FFFFFF"/>
                          </a:solidFill>
                          <a:latin typeface="Aptos"/>
                        </a:defRPr>
                      </a:pPr>
                      <a:r>
                        <a:t>GPT-4o mean</a:t>
                      </a:r>
                    </a:p>
                  </a:txBody>
                  <a:tcPr marL="118872" marR="118872" marT="45720" marB="45720" anchor="ctr">
                    <a:solidFill>
                      <a:srgbClr val="2563EB"/>
                    </a:solidFill>
                  </a:tcPr>
                </a:tc>
                <a:tc>
                  <a:txBody>
                    <a:bodyPr/>
                    <a:lstStyle/>
                    <a:p>
                      <a:pPr algn="ctr">
                        <a:spcBef>
                          <a:spcPts val="0"/>
                        </a:spcBef>
                        <a:spcAft>
                          <a:spcPts val="0"/>
                        </a:spcAft>
                        <a:defRPr sz="1700" b="1">
                          <a:solidFill>
                            <a:srgbClr val="FFFFFF"/>
                          </a:solidFill>
                          <a:latin typeface="Aptos"/>
                        </a:defRPr>
                      </a:pPr>
                      <a:r>
                        <a:t>JEV mean</a:t>
                      </a:r>
                    </a:p>
                  </a:txBody>
                  <a:tcPr marL="118872" marR="118872" marT="45720" marB="45720" anchor="ctr">
                    <a:solidFill>
                      <a:srgbClr val="2563EB"/>
                    </a:solidFill>
                  </a:tcPr>
                </a:tc>
                <a:tc>
                  <a:txBody>
                    <a:bodyPr/>
                    <a:lstStyle/>
                    <a:p>
                      <a:pPr algn="ctr">
                        <a:spcBef>
                          <a:spcPts val="0"/>
                        </a:spcBef>
                        <a:spcAft>
                          <a:spcPts val="0"/>
                        </a:spcAft>
                        <a:defRPr sz="1700" b="1">
                          <a:solidFill>
                            <a:srgbClr val="FFFFFF"/>
                          </a:solidFill>
                          <a:latin typeface="Aptos"/>
                        </a:defRPr>
                      </a:pPr>
                      <a:r>
                        <a:t>Pass/fail agreement</a:t>
                      </a:r>
                    </a:p>
                  </a:txBody>
                  <a:tcPr marL="118872" marR="118872" marT="45720" marB="45720" anchor="ctr">
                    <a:solidFill>
                      <a:srgbClr val="2563EB"/>
                    </a:solidFill>
                  </a:tcPr>
                </a:tc>
              </a:tr>
              <a:tr h="557784">
                <a:tc>
                  <a:txBody>
                    <a:bodyPr/>
                    <a:lstStyle/>
                    <a:p>
                      <a:pPr>
                        <a:spcBef>
                          <a:spcPts val="0"/>
                        </a:spcBef>
                        <a:spcAft>
                          <a:spcPts val="0"/>
                        </a:spcAft>
                        <a:defRPr sz="1700" b="1">
                          <a:solidFill>
                            <a:srgbClr val="17212B"/>
                          </a:solidFill>
                          <a:latin typeface="Aptos"/>
                        </a:defRPr>
                      </a:pPr>
                      <a:r>
                        <a:t>Faithfulness</a:t>
                      </a:r>
                    </a:p>
                  </a:txBody>
                  <a:tcPr marL="118872" marR="118872" marT="45720" marB="45720" anchor="ctr">
                    <a:solidFill>
                      <a:srgbClr val="FFFFFF"/>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0.7343</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0.6853</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77.1%</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Answer relevance</a:t>
                      </a:r>
                    </a:p>
                  </a:txBody>
                  <a:tcPr marL="118872" marR="118872" marT="45720" marB="45720" anchor="ctr">
                    <a:solidFill>
                      <a:srgbClr val="F4F6F8"/>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0.9429</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0.8929</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100.0%</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Context relevance</a:t>
                      </a:r>
                    </a:p>
                  </a:txBody>
                  <a:tcPr marL="118872" marR="118872" marT="45720" marB="45720" anchor="ctr">
                    <a:solidFill>
                      <a:srgbClr val="FFFFFF"/>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0.8714</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0.8302</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100.0%</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Toxicity</a:t>
                      </a:r>
                    </a:p>
                  </a:txBody>
                  <a:tcPr marL="118872" marR="118872" marT="45720" marB="45720" anchor="ctr">
                    <a:solidFill>
                      <a:srgbClr val="F4F6F8"/>
                    </a:solidFill>
                  </a:tcPr>
                </a:tc>
                <a:tc>
                  <a:txBody>
                    <a:bodyPr/>
                    <a:lstStyle/>
                    <a:p>
                      <a:pPr>
                        <a:spcBef>
                          <a:spcPts val="0"/>
                        </a:spcBef>
                        <a:spcAft>
                          <a:spcPts val="0"/>
                        </a:spcAft>
                        <a:defRPr sz="1700" b="0">
                          <a:solidFill>
                            <a:srgbClr val="17212B"/>
                          </a:solidFill>
                          <a:latin typeface="Aptos"/>
                        </a:defRPr>
                      </a:pPr>
                      <a:r>
                        <a:t>Lower</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0.0571</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0.0376</a:t>
                      </a:r>
                    </a:p>
                  </a:txBody>
                  <a:tcPr marL="118872" marR="118872" marT="45720" marB="45720" anchor="ctr">
                    <a:solidFill>
                      <a:srgbClr val="F4F6F8"/>
                    </a:solidFill>
                  </a:tcPr>
                </a:tc>
                <a:tc>
                  <a:txBody>
                    <a:bodyPr/>
                    <a:lstStyle/>
                    <a:p>
                      <a:pPr algn="ctr">
                        <a:spcBef>
                          <a:spcPts val="0"/>
                        </a:spcBef>
                        <a:spcAft>
                          <a:spcPts val="0"/>
                        </a:spcAft>
                        <a:defRPr sz="1700" b="0">
                          <a:solidFill>
                            <a:srgbClr val="17212B"/>
                          </a:solidFill>
                          <a:latin typeface="Aptos"/>
                        </a:defRPr>
                      </a:pPr>
                      <a:r>
                        <a:t>97.1%</a:t>
                      </a:r>
                    </a:p>
                  </a:txBody>
                  <a:tcPr marL="118872" marR="118872" marT="45720" marB="45720" anchor="ctr">
                    <a:solidFill>
                      <a:srgbClr val="EDF8F5"/>
                    </a:solidFill>
                  </a:tcPr>
                </a:tc>
              </a:tr>
              <a:tr h="557784">
                <a:tc>
                  <a:txBody>
                    <a:bodyPr/>
                    <a:lstStyle/>
                    <a:p>
                      <a:pPr>
                        <a:spcBef>
                          <a:spcPts val="0"/>
                        </a:spcBef>
                        <a:spcAft>
                          <a:spcPts val="0"/>
                        </a:spcAft>
                        <a:defRPr sz="1700" b="1">
                          <a:solidFill>
                            <a:srgbClr val="17212B"/>
                          </a:solidFill>
                          <a:latin typeface="Aptos"/>
                        </a:defRPr>
                      </a:pPr>
                      <a:r>
                        <a:t>Tone appropriateness</a:t>
                      </a:r>
                    </a:p>
                  </a:txBody>
                  <a:tcPr marL="118872" marR="118872" marT="45720" marB="45720" anchor="ctr">
                    <a:solidFill>
                      <a:srgbClr val="FFFFFF"/>
                    </a:solidFill>
                  </a:tcPr>
                </a:tc>
                <a:tc>
                  <a:txBody>
                    <a:bodyPr/>
                    <a:lstStyle/>
                    <a:p>
                      <a:pPr>
                        <a:spcBef>
                          <a:spcPts val="0"/>
                        </a:spcBef>
                        <a:spcAft>
                          <a:spcPts val="0"/>
                        </a:spcAft>
                        <a:defRPr sz="1700" b="0">
                          <a:solidFill>
                            <a:srgbClr val="17212B"/>
                          </a:solidFill>
                          <a:latin typeface="Aptos"/>
                        </a:defRPr>
                      </a:pPr>
                      <a:r>
                        <a:t>Higher</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0.9229</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0.9195</a:t>
                      </a:r>
                    </a:p>
                  </a:txBody>
                  <a:tcPr marL="118872" marR="118872" marT="45720" marB="45720" anchor="ctr">
                    <a:solidFill>
                      <a:srgbClr val="FFFFFF"/>
                    </a:solidFill>
                  </a:tcPr>
                </a:tc>
                <a:tc>
                  <a:txBody>
                    <a:bodyPr/>
                    <a:lstStyle/>
                    <a:p>
                      <a:pPr algn="ctr">
                        <a:spcBef>
                          <a:spcPts val="0"/>
                        </a:spcBef>
                        <a:spcAft>
                          <a:spcPts val="0"/>
                        </a:spcAft>
                        <a:defRPr sz="1700" b="0">
                          <a:solidFill>
                            <a:srgbClr val="17212B"/>
                          </a:solidFill>
                          <a:latin typeface="Aptos"/>
                        </a:defRPr>
                      </a:pPr>
                      <a:r>
                        <a:t>100.0%</a:t>
                      </a:r>
                    </a:p>
                  </a:txBody>
                  <a:tcPr marL="118872" marR="118872" marT="45720" marB="45720" anchor="ctr">
                    <a:solidFill>
                      <a:srgbClr val="EDF8F5"/>
                    </a:solidFill>
                  </a:tcPr>
                </a:tc>
              </a:tr>
            </a:tbl>
          </a:graphicData>
        </a:graphic>
      </p:graphicFrame>
      <p:sp>
        <p:nvSpPr>
          <p:cNvPr id="11" name="Rectangle 10"/>
          <p:cNvSpPr/>
          <p:nvPr/>
        </p:nvSpPr>
        <p:spPr>
          <a:xfrm>
            <a:off x="530352" y="5486400"/>
            <a:ext cx="11128248" cy="438912"/>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77840"/>
            <a:ext cx="10799064" cy="246888"/>
          </a:xfrm>
          <a:prstGeom prst="rect">
            <a:avLst/>
          </a:prstGeom>
          <a:noFill/>
        </p:spPr>
        <p:txBody>
          <a:bodyPr wrap="square" lIns="0" rIns="0" tIns="0" bIns="0">
            <a:noAutofit/>
          </a:bodyPr>
          <a:lstStyle/>
          <a:p>
            <a:pPr algn="l">
              <a:spcBef>
                <a:spcPts val="0"/>
              </a:spcBef>
              <a:spcAft>
                <a:spcPts val="400"/>
              </a:spcAft>
              <a:defRPr sz="1600" b="1">
                <a:solidFill>
                  <a:srgbClr val="8A4B08"/>
                </a:solidFill>
                <a:latin typeface="Aptos"/>
              </a:defRPr>
            </a:pPr>
            <a:r>
              <a:t>Faithfulness diverges most (77.1% agreement): review unsupported-claim disagreements.</a:t>
            </a:r>
          </a:p>
        </p:txBody>
      </p:sp>
      <p:sp>
        <p:nvSpPr>
          <p:cNvPr id="13" name="TextBox 12"/>
          <p:cNvSpPr txBox="1"/>
          <p:nvPr/>
        </p:nvSpPr>
        <p:spPr>
          <a:xfrm>
            <a:off x="530352" y="6071616"/>
            <a:ext cx="11128248" cy="265176"/>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Cut-off = 0.5; high toxicity fails. Excludes correctness, SME agreement, tag matches and document precision/recall.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Where each judge trails: the measured trade-offs</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 workbook / Accuracy_vs_Gold. Designer labels; means of 2 runs. Sample size and measure vary by row.</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05 / 08</a:t>
            </a:r>
          </a:p>
        </p:txBody>
      </p:sp>
      <p:sp>
        <p:nvSpPr>
          <p:cNvPr id="9" name="TextBox 8"/>
          <p:cNvSpPr txBox="1"/>
          <p:nvPr/>
        </p:nvSpPr>
        <p:spPr>
          <a:xfrm>
            <a:off x="530352" y="1353312"/>
            <a:ext cx="11128248" cy="320040"/>
          </a:xfrm>
          <a:prstGeom prst="rect">
            <a:avLst/>
          </a:prstGeom>
          <a:noFill/>
        </p:spPr>
        <p:txBody>
          <a:bodyPr wrap="square" lIns="0" rIns="0" tIns="0" bIns="0">
            <a:noAutofit/>
          </a:bodyPr>
          <a:lstStyle/>
          <a:p>
            <a:pPr algn="l">
              <a:spcBef>
                <a:spcPts val="0"/>
              </a:spcBef>
              <a:spcAft>
                <a:spcPts val="400"/>
              </a:spcAft>
              <a:defRPr sz="1700" b="0">
                <a:solidFill>
                  <a:srgbClr val="526170"/>
                </a:solidFill>
                <a:latin typeface="Aptos"/>
              </a:defRPr>
            </a:pPr>
            <a:r>
              <a:t>JEV trails on correctness grades; GPT-4o trails on unsupported-claim detection and toxicity classification.</a:t>
            </a:r>
          </a:p>
        </p:txBody>
      </p:sp>
      <p:graphicFrame>
        <p:nvGraphicFramePr>
          <p:cNvPr id="10" name="Table 9"/>
          <p:cNvGraphicFramePr>
            <a:graphicFrameLocks noGrp="1"/>
          </p:cNvGraphicFramePr>
          <p:nvPr/>
        </p:nvGraphicFramePr>
        <p:xfrm>
          <a:off x="530352" y="1883664"/>
          <a:ext cx="11128248" cy="4005072"/>
        </p:xfrm>
        <a:graphic>
          <a:graphicData uri="http://schemas.openxmlformats.org/drawingml/2006/table">
            <a:tbl>
              <a:tblPr firstRow="1" bandRow="1">
                <a:tableStyleId>{5C22544A-7EE6-4342-B048-85BDC9FD1C3A}</a:tableStyleId>
              </a:tblPr>
              <a:tblGrid>
                <a:gridCol w="3886200"/>
                <a:gridCol w="1508760"/>
                <a:gridCol w="1508760"/>
                <a:gridCol w="4224528"/>
              </a:tblGrid>
              <a:tr h="438912">
                <a:tc>
                  <a:txBody>
                    <a:bodyPr/>
                    <a:lstStyle/>
                    <a:p>
                      <a:pPr>
                        <a:spcBef>
                          <a:spcPts val="0"/>
                        </a:spcBef>
                        <a:spcAft>
                          <a:spcPts val="0"/>
                        </a:spcAft>
                        <a:defRPr sz="1600" b="1">
                          <a:solidFill>
                            <a:srgbClr val="FFFFFF"/>
                          </a:solidFill>
                          <a:latin typeface="Aptos"/>
                        </a:defRPr>
                      </a:pPr>
                      <a:r>
                        <a:t>Metric / success measure</a:t>
                      </a:r>
                    </a:p>
                  </a:txBody>
                  <a:tcPr marL="118872" marR="118872" marT="45720" marB="45720" anchor="ctr">
                    <a:solidFill>
                      <a:srgbClr val="2563EB"/>
                    </a:solidFill>
                  </a:tcPr>
                </a:tc>
                <a:tc>
                  <a:txBody>
                    <a:bodyPr/>
                    <a:lstStyle/>
                    <a:p>
                      <a:pPr algn="ctr">
                        <a:spcBef>
                          <a:spcPts val="0"/>
                        </a:spcBef>
                        <a:spcAft>
                          <a:spcPts val="0"/>
                        </a:spcAft>
                        <a:defRPr sz="1600" b="1">
                          <a:solidFill>
                            <a:srgbClr val="FFFFFF"/>
                          </a:solidFill>
                          <a:latin typeface="Aptos"/>
                        </a:defRPr>
                      </a:pPr>
                      <a:r>
                        <a:t>GPT-4o</a:t>
                      </a:r>
                    </a:p>
                  </a:txBody>
                  <a:tcPr marL="118872" marR="118872" marT="45720" marB="45720" anchor="ctr">
                    <a:solidFill>
                      <a:srgbClr val="2563EB"/>
                    </a:solidFill>
                  </a:tcPr>
                </a:tc>
                <a:tc>
                  <a:txBody>
                    <a:bodyPr/>
                    <a:lstStyle/>
                    <a:p>
                      <a:pPr algn="ctr">
                        <a:spcBef>
                          <a:spcPts val="0"/>
                        </a:spcBef>
                        <a:spcAft>
                          <a:spcPts val="0"/>
                        </a:spcAft>
                        <a:defRPr sz="1600" b="1">
                          <a:solidFill>
                            <a:srgbClr val="FFFFFF"/>
                          </a:solidFill>
                          <a:latin typeface="Aptos"/>
                        </a:defRPr>
                      </a:pPr>
                      <a:r>
                        <a:t>JEV</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Observed gap</a:t>
                      </a:r>
                    </a:p>
                  </a:txBody>
                  <a:tcPr marL="118872" marR="118872" marT="45720" marB="45720" anchor="ctr">
                    <a:solidFill>
                      <a:srgbClr val="2563EB"/>
                    </a:solidFill>
                  </a:tcPr>
                </a:tc>
              </a:tr>
              <a:tr h="594360">
                <a:tc>
                  <a:txBody>
                    <a:bodyPr/>
                    <a:lstStyle/>
                    <a:p>
                      <a:pPr>
                        <a:spcBef>
                          <a:spcPts val="0"/>
                        </a:spcBef>
                        <a:spcAft>
                          <a:spcPts val="0"/>
                        </a:spcAft>
                        <a:defRPr sz="1600" b="1">
                          <a:solidFill>
                            <a:srgbClr val="17212B"/>
                          </a:solidFill>
                          <a:latin typeface="Aptos"/>
                        </a:defRPr>
                      </a:pPr>
                      <a:r>
                        <a:t>Answer correctness</a:t>
                      </a:r>
                    </a:p>
                    <a:p>
                      <a:pPr>
                        <a:spcBef>
                          <a:spcPts val="0"/>
                        </a:spcBef>
                        <a:spcAft>
                          <a:spcPts val="0"/>
                        </a:spcAft>
                        <a:defRPr sz="1600" b="1">
                          <a:solidFill>
                            <a:srgbClr val="17212B"/>
                          </a:solidFill>
                          <a:latin typeface="Aptos"/>
                        </a:defRPr>
                      </a:pPr>
                      <a:r>
                        <a:t>Band accuracy (n=15)</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80.0%</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73.3%</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GPT-4o ahead by 6.7 pp</a:t>
                      </a:r>
                    </a:p>
                  </a:txBody>
                  <a:tcPr marL="118872" marR="118872" marT="45720" marB="45720" anchor="ctr">
                    <a:solidFill>
                      <a:srgbClr val="EDF8F5"/>
                    </a:solidFill>
                  </a:tcPr>
                </a:tc>
              </a:tr>
              <a:tr h="594360">
                <a:tc>
                  <a:txBody>
                    <a:bodyPr/>
                    <a:lstStyle/>
                    <a:p>
                      <a:pPr>
                        <a:spcBef>
                          <a:spcPts val="0"/>
                        </a:spcBef>
                        <a:spcAft>
                          <a:spcPts val="0"/>
                        </a:spcAft>
                        <a:defRPr sz="1600" b="1">
                          <a:solidFill>
                            <a:srgbClr val="17212B"/>
                          </a:solidFill>
                          <a:latin typeface="Aptos"/>
                        </a:defRPr>
                      </a:pPr>
                      <a:r>
                        <a:t>Faithfulness</a:t>
                      </a:r>
                    </a:p>
                    <a:p>
                      <a:pPr>
                        <a:spcBef>
                          <a:spcPts val="0"/>
                        </a:spcBef>
                        <a:spcAft>
                          <a:spcPts val="0"/>
                        </a:spcAft>
                        <a:defRPr sz="1600" b="1">
                          <a:solidFill>
                            <a:srgbClr val="17212B"/>
                          </a:solidFill>
                          <a:latin typeface="Aptos"/>
                        </a:defRPr>
                      </a:pPr>
                      <a:r>
                        <a:t>Failure recall (10 unsupported cases)</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50.0%</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100.0%</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JEV ahead by 50.0 pp</a:t>
                      </a:r>
                    </a:p>
                  </a:txBody>
                  <a:tcPr marL="118872" marR="118872" marT="45720" marB="45720" anchor="ctr">
                    <a:solidFill>
                      <a:srgbClr val="EDF8F5"/>
                    </a:solidFill>
                  </a:tcPr>
                </a:tc>
              </a:tr>
              <a:tr h="594360">
                <a:tc>
                  <a:txBody>
                    <a:bodyPr/>
                    <a:lstStyle/>
                    <a:p>
                      <a:pPr>
                        <a:spcBef>
                          <a:spcPts val="0"/>
                        </a:spcBef>
                        <a:spcAft>
                          <a:spcPts val="0"/>
                        </a:spcAft>
                        <a:defRPr sz="1600" b="1">
                          <a:solidFill>
                            <a:srgbClr val="17212B"/>
                          </a:solidFill>
                          <a:latin typeface="Aptos"/>
                        </a:defRPr>
                      </a:pPr>
                      <a:r>
                        <a:t>Toxicity</a:t>
                      </a:r>
                    </a:p>
                    <a:p>
                      <a:pPr>
                        <a:spcBef>
                          <a:spcPts val="0"/>
                        </a:spcBef>
                        <a:spcAft>
                          <a:spcPts val="0"/>
                        </a:spcAft>
                        <a:defRPr sz="1600" b="1">
                          <a:solidFill>
                            <a:srgbClr val="17212B"/>
                          </a:solidFill>
                          <a:latin typeface="Aptos"/>
                        </a:defRPr>
                      </a:pPr>
                      <a:r>
                        <a:t>Verdict accuracy (n=35)</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97.1%</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100.0%</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JEV ahead by 2.9 pp</a:t>
                      </a:r>
                    </a:p>
                  </a:txBody>
                  <a:tcPr marL="118872" marR="118872" marT="45720" marB="45720" anchor="ctr">
                    <a:solidFill>
                      <a:srgbClr val="EDF8F5"/>
                    </a:solidFill>
                  </a:tcPr>
                </a:tc>
              </a:tr>
              <a:tr h="594360">
                <a:tc>
                  <a:txBody>
                    <a:bodyPr/>
                    <a:lstStyle/>
                    <a:p>
                      <a:pPr>
                        <a:spcBef>
                          <a:spcPts val="0"/>
                        </a:spcBef>
                        <a:spcAft>
                          <a:spcPts val="0"/>
                        </a:spcAft>
                        <a:defRPr sz="1600" b="1">
                          <a:solidFill>
                            <a:srgbClr val="17212B"/>
                          </a:solidFill>
                          <a:latin typeface="Aptos"/>
                        </a:defRPr>
                      </a:pPr>
                      <a:r>
                        <a:t>Answer relevance</a:t>
                      </a:r>
                    </a:p>
                    <a:p>
                      <a:pPr>
                        <a:spcBef>
                          <a:spcPts val="0"/>
                        </a:spcBef>
                        <a:spcAft>
                          <a:spcPts val="0"/>
                        </a:spcAft>
                        <a:defRPr sz="1600" b="1">
                          <a:solidFill>
                            <a:srgbClr val="17212B"/>
                          </a:solidFill>
                          <a:latin typeface="Aptos"/>
                        </a:defRPr>
                      </a:pPr>
                      <a:r>
                        <a:t>Verdict accuracy (n=35)</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100.0%</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100.0%</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Tie on verdict accuracy</a:t>
                      </a:r>
                    </a:p>
                  </a:txBody>
                  <a:tcPr marL="118872" marR="118872" marT="45720" marB="45720" anchor="ctr">
                    <a:solidFill>
                      <a:srgbClr val="EDF8F5"/>
                    </a:solidFill>
                  </a:tcPr>
                </a:tc>
              </a:tr>
              <a:tr h="594360">
                <a:tc>
                  <a:txBody>
                    <a:bodyPr/>
                    <a:lstStyle/>
                    <a:p>
                      <a:pPr>
                        <a:spcBef>
                          <a:spcPts val="0"/>
                        </a:spcBef>
                        <a:spcAft>
                          <a:spcPts val="0"/>
                        </a:spcAft>
                        <a:defRPr sz="1600" b="1">
                          <a:solidFill>
                            <a:srgbClr val="17212B"/>
                          </a:solidFill>
                          <a:latin typeface="Aptos"/>
                        </a:defRPr>
                      </a:pPr>
                      <a:r>
                        <a:t>Context relevance</a:t>
                      </a:r>
                    </a:p>
                    <a:p>
                      <a:pPr>
                        <a:spcBef>
                          <a:spcPts val="0"/>
                        </a:spcBef>
                        <a:spcAft>
                          <a:spcPts val="0"/>
                        </a:spcAft>
                        <a:defRPr sz="1600" b="1">
                          <a:solidFill>
                            <a:srgbClr val="17212B"/>
                          </a:solidFill>
                          <a:latin typeface="Aptos"/>
                        </a:defRPr>
                      </a:pPr>
                      <a:r>
                        <a:t>Verdict accuracy (n=35)</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97.1%</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97.1%</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Tie on verdict accuracy</a:t>
                      </a:r>
                    </a:p>
                  </a:txBody>
                  <a:tcPr marL="118872" marR="118872" marT="45720" marB="45720" anchor="ctr">
                    <a:solidFill>
                      <a:srgbClr val="EDF8F5"/>
                    </a:solidFill>
                  </a:tcPr>
                </a:tc>
              </a:tr>
              <a:tr h="594360">
                <a:tc>
                  <a:txBody>
                    <a:bodyPr/>
                    <a:lstStyle/>
                    <a:p>
                      <a:pPr>
                        <a:spcBef>
                          <a:spcPts val="0"/>
                        </a:spcBef>
                        <a:spcAft>
                          <a:spcPts val="0"/>
                        </a:spcAft>
                        <a:defRPr sz="1600" b="1">
                          <a:solidFill>
                            <a:srgbClr val="17212B"/>
                          </a:solidFill>
                          <a:latin typeface="Aptos"/>
                        </a:defRPr>
                      </a:pPr>
                      <a:r>
                        <a:t>Tone appropriateness</a:t>
                      </a:r>
                    </a:p>
                    <a:p>
                      <a:pPr>
                        <a:spcBef>
                          <a:spcPts val="0"/>
                        </a:spcBef>
                        <a:spcAft>
                          <a:spcPts val="0"/>
                        </a:spcAft>
                        <a:defRPr sz="1600" b="1">
                          <a:solidFill>
                            <a:srgbClr val="17212B"/>
                          </a:solidFill>
                          <a:latin typeface="Aptos"/>
                        </a:defRPr>
                      </a:pPr>
                      <a:r>
                        <a:t>Verdict accuracy (n=35)</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100.0%</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100.0%</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Tie on verdict accuracy</a:t>
                      </a:r>
                    </a:p>
                  </a:txBody>
                  <a:tcPr marL="118872" marR="118872" marT="45720" marB="45720" anchor="ctr">
                    <a:solidFill>
                      <a:srgbClr val="EDF8F5"/>
                    </a:solidFill>
                  </a:tcPr>
                </a:tc>
              </a:tr>
            </a:tbl>
          </a:graphicData>
        </a:graphic>
      </p:graphicFrame>
      <p:sp>
        <p:nvSpPr>
          <p:cNvPr id="11" name="TextBox 10"/>
          <p:cNvSpPr txBox="1"/>
          <p:nvPr/>
        </p:nvSpPr>
        <p:spPr>
          <a:xfrm>
            <a:off x="530352" y="6025896"/>
            <a:ext cx="11128248" cy="292608"/>
          </a:xfrm>
          <a:prstGeom prst="rect">
            <a:avLst/>
          </a:prstGeom>
          <a:noFill/>
        </p:spPr>
        <p:txBody>
          <a:bodyPr wrap="square" lIns="0" rIns="0" tIns="0" bIns="0">
            <a:noAutofit/>
          </a:bodyPr>
          <a:lstStyle/>
          <a:p>
            <a:pPr algn="l">
              <a:spcBef>
                <a:spcPts val="0"/>
              </a:spcBef>
              <a:spcAft>
                <a:spcPts val="400"/>
              </a:spcAft>
              <a:defRPr sz="1350" b="1">
                <a:solidFill>
                  <a:srgbClr val="8A4B08"/>
                </a:solidFill>
                <a:latin typeface="Aptos"/>
              </a:defRPr>
            </a:pPr>
            <a:r>
              <a:t>pp = percentage points. Small synthetic sample; rubric and threshold differences limit generalization.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Two worked examples: one advantage for each judge</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Sources: workbook / Per_Row (run 1); synthetic cases 03 and 09, row_id 2 and 8. Full text in presenter notes.</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06 / 08</a:t>
            </a:r>
          </a:p>
        </p:txBody>
      </p:sp>
      <p:sp>
        <p:nvSpPr>
          <p:cNvPr id="9" name="TextBox 8"/>
          <p:cNvSpPr txBox="1"/>
          <p:nvPr/>
        </p:nvSpPr>
        <p:spPr>
          <a:xfrm>
            <a:off x="530352" y="1353312"/>
            <a:ext cx="11128248" cy="310896"/>
          </a:xfrm>
          <a:prstGeom prst="rect">
            <a:avLst/>
          </a:prstGeom>
          <a:noFill/>
        </p:spPr>
        <p:txBody>
          <a:bodyPr wrap="square" lIns="0" rIns="0" tIns="0" bIns="0">
            <a:noAutofit/>
          </a:bodyPr>
          <a:lstStyle/>
          <a:p>
            <a:pPr algn="l">
              <a:spcBef>
                <a:spcPts val="0"/>
              </a:spcBef>
              <a:spcAft>
                <a:spcPts val="400"/>
              </a:spcAft>
              <a:defRPr sz="1650" b="0">
                <a:solidFill>
                  <a:srgbClr val="526170"/>
                </a:solidFill>
                <a:latin typeface="Aptos"/>
              </a:defRPr>
            </a:pPr>
            <a:r>
              <a:t>Both judges evaluated the same ADI answers. The advantage is metric-specific, not an overall answer approval.</a:t>
            </a:r>
          </a:p>
        </p:txBody>
      </p:sp>
      <p:sp>
        <p:nvSpPr>
          <p:cNvPr id="10" name="Rectangle 9"/>
          <p:cNvSpPr/>
          <p:nvPr/>
        </p:nvSpPr>
        <p:spPr>
          <a:xfrm>
            <a:off x="530352" y="1828800"/>
            <a:ext cx="5381244" cy="365760"/>
          </a:xfrm>
          <a:prstGeom prst="rect">
            <a:avLst/>
          </a:prstGeom>
          <a:solidFill>
            <a:srgbClr val="ED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920240"/>
            <a:ext cx="5125212" cy="219456"/>
          </a:xfrm>
          <a:prstGeom prst="rect">
            <a:avLst/>
          </a:prstGeom>
          <a:noFill/>
        </p:spPr>
        <p:txBody>
          <a:bodyPr wrap="square" lIns="0" rIns="0" tIns="0" bIns="0">
            <a:noAutofit/>
          </a:bodyPr>
          <a:lstStyle/>
          <a:p>
            <a:pPr algn="l">
              <a:spcBef>
                <a:spcPts val="0"/>
              </a:spcBef>
              <a:spcAft>
                <a:spcPts val="400"/>
              </a:spcAft>
              <a:defRPr sz="1400" b="1">
                <a:solidFill>
                  <a:srgbClr val="17212B"/>
                </a:solidFill>
                <a:latin typeface="Aptos"/>
              </a:defRPr>
            </a:pPr>
            <a:r>
              <a:t>CASE 03: JEV BETTER ON FAITHFULNESS</a:t>
            </a:r>
          </a:p>
        </p:txBody>
      </p:sp>
      <p:sp>
        <p:nvSpPr>
          <p:cNvPr id="12" name="TextBox 11"/>
          <p:cNvSpPr txBox="1"/>
          <p:nvPr/>
        </p:nvSpPr>
        <p:spPr>
          <a:xfrm>
            <a:off x="658368" y="2340864"/>
            <a:ext cx="5125212" cy="603504"/>
          </a:xfrm>
          <a:prstGeom prst="rect">
            <a:avLst/>
          </a:prstGeom>
          <a:noFill/>
        </p:spPr>
        <p:txBody>
          <a:bodyPr wrap="square" lIns="0" rIns="0" tIns="0" bIns="0">
            <a:noAutofit/>
          </a:bodyPr>
          <a:lstStyle/>
          <a:p>
            <a:pPr algn="l">
              <a:spcBef>
                <a:spcPts val="0"/>
              </a:spcBef>
              <a:spcAft>
                <a:spcPts val="400"/>
              </a:spcAft>
              <a:defRPr sz="1700" b="1">
                <a:solidFill>
                  <a:srgbClr val="17212B"/>
                </a:solidFill>
                <a:latin typeface="Aptos"/>
              </a:defRPr>
            </a:pPr>
            <a:r>
              <a:t>What is the daily ATM withdrawal limit on the Burgundy debit card?</a:t>
            </a:r>
          </a:p>
        </p:txBody>
      </p:sp>
      <p:sp>
        <p:nvSpPr>
          <p:cNvPr id="13" name="TextBox 12"/>
          <p:cNvSpPr txBox="1"/>
          <p:nvPr/>
        </p:nvSpPr>
        <p:spPr>
          <a:xfrm>
            <a:off x="658368" y="3008376"/>
            <a:ext cx="5125212" cy="182880"/>
          </a:xfrm>
          <a:prstGeom prst="rect">
            <a:avLst/>
          </a:prstGeom>
          <a:noFill/>
        </p:spPr>
        <p:txBody>
          <a:bodyPr wrap="square" lIns="0" rIns="0" tIns="0" bIns="0">
            <a:noAutofit/>
          </a:bodyPr>
          <a:lstStyle/>
          <a:p>
            <a:pPr algn="l">
              <a:spcBef>
                <a:spcPts val="0"/>
              </a:spcBef>
              <a:spcAft>
                <a:spcPts val="400"/>
              </a:spcAft>
              <a:defRPr sz="1100" b="1">
                <a:solidFill>
                  <a:srgbClr val="007F78"/>
                </a:solidFill>
                <a:latin typeface="Aptos"/>
              </a:defRPr>
            </a:pPr>
            <a:r>
              <a:t>REFERENCE (CONDENSED)</a:t>
            </a:r>
          </a:p>
        </p:txBody>
      </p:sp>
      <p:sp>
        <p:nvSpPr>
          <p:cNvPr id="14" name="TextBox 13"/>
          <p:cNvSpPr txBox="1"/>
          <p:nvPr/>
        </p:nvSpPr>
        <p:spPr>
          <a:xfrm>
            <a:off x="658368" y="3246120"/>
            <a:ext cx="5125212" cy="539496"/>
          </a:xfrm>
          <a:prstGeom prst="rect">
            <a:avLst/>
          </a:prstGeom>
          <a:noFill/>
        </p:spPr>
        <p:txBody>
          <a:bodyPr wrap="square" lIns="0" rIns="0" tIns="0" bIns="0">
            <a:noAutofit/>
          </a:bodyPr>
          <a:lstStyle/>
          <a:p>
            <a:pPr algn="l">
              <a:spcBef>
                <a:spcPts val="0"/>
              </a:spcBef>
              <a:spcAft>
                <a:spcPts val="400"/>
              </a:spcAft>
              <a:defRPr sz="1600" b="0">
                <a:solidFill>
                  <a:srgbClr val="17212B"/>
                </a:solidFill>
                <a:latin typeface="Aptos"/>
              </a:defRPr>
            </a:pPr>
            <a:r>
              <a:t>ATM limit: Rs. 3,00,000.</a:t>
            </a:r>
          </a:p>
          <a:p>
            <a:pPr algn="l">
              <a:spcBef>
                <a:spcPts val="0"/>
              </a:spcBef>
              <a:spcAft>
                <a:spcPts val="400"/>
              </a:spcAft>
              <a:defRPr sz="1600" b="0">
                <a:solidFill>
                  <a:srgbClr val="17212B"/>
                </a:solidFill>
                <a:latin typeface="Aptos"/>
              </a:defRPr>
            </a:pPr>
            <a:r>
              <a:t>POS / e-commerce limit: Rs. 6,00,000.</a:t>
            </a:r>
          </a:p>
        </p:txBody>
      </p:sp>
      <p:sp>
        <p:nvSpPr>
          <p:cNvPr id="15" name="TextBox 14"/>
          <p:cNvSpPr txBox="1"/>
          <p:nvPr/>
        </p:nvSpPr>
        <p:spPr>
          <a:xfrm>
            <a:off x="658368" y="3849624"/>
            <a:ext cx="5125212" cy="182880"/>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ANSWER (CONDENSED)</a:t>
            </a:r>
          </a:p>
        </p:txBody>
      </p:sp>
      <p:sp>
        <p:nvSpPr>
          <p:cNvPr id="16" name="TextBox 15"/>
          <p:cNvSpPr txBox="1"/>
          <p:nvPr/>
        </p:nvSpPr>
        <p:spPr>
          <a:xfrm>
            <a:off x="658368" y="4087368"/>
            <a:ext cx="5125212" cy="576072"/>
          </a:xfrm>
          <a:prstGeom prst="rect">
            <a:avLst/>
          </a:prstGeom>
          <a:noFill/>
        </p:spPr>
        <p:txBody>
          <a:bodyPr wrap="square" lIns="0" rIns="0" tIns="0" bIns="0">
            <a:noAutofit/>
          </a:bodyPr>
          <a:lstStyle/>
          <a:p>
            <a:pPr algn="l">
              <a:spcBef>
                <a:spcPts val="0"/>
              </a:spcBef>
              <a:spcAft>
                <a:spcPts val="400"/>
              </a:spcAft>
              <a:defRPr sz="1600" b="0">
                <a:solidFill>
                  <a:srgbClr val="17212B"/>
                </a:solidFill>
                <a:latin typeface="Aptos"/>
              </a:defRPr>
            </a:pPr>
            <a:r>
              <a:t>ATM limit: Rs. 1,00,000.</a:t>
            </a:r>
          </a:p>
          <a:p>
            <a:pPr algn="l">
              <a:spcBef>
                <a:spcPts val="0"/>
              </a:spcBef>
              <a:spcAft>
                <a:spcPts val="400"/>
              </a:spcAft>
              <a:defRPr sz="1600" b="0">
                <a:solidFill>
                  <a:srgbClr val="17212B"/>
                </a:solidFill>
                <a:latin typeface="Aptos"/>
              </a:defRPr>
            </a:pPr>
            <a:r>
              <a:t>POS / e-commerce limit: Rs. 6,00,000.</a:t>
            </a:r>
          </a:p>
        </p:txBody>
      </p:sp>
      <p:graphicFrame>
        <p:nvGraphicFramePr>
          <p:cNvPr id="17" name="Table 16"/>
          <p:cNvGraphicFramePr>
            <a:graphicFrameLocks noGrp="1"/>
          </p:cNvGraphicFramePr>
          <p:nvPr/>
        </p:nvGraphicFramePr>
        <p:xfrm>
          <a:off x="530352" y="4745736"/>
          <a:ext cx="5381244" cy="749808"/>
        </p:xfrm>
        <a:graphic>
          <a:graphicData uri="http://schemas.openxmlformats.org/drawingml/2006/table">
            <a:tbl>
              <a:tblPr firstRow="1" bandRow="1">
                <a:tableStyleId>{5C22544A-7EE6-4342-B048-85BDC9FD1C3A}</a:tableStyleId>
              </a:tblPr>
              <a:tblGrid>
                <a:gridCol w="2690622"/>
                <a:gridCol w="2690622"/>
              </a:tblGrid>
              <a:tr h="320040">
                <a:tc>
                  <a:txBody>
                    <a:bodyPr/>
                    <a:lstStyle/>
                    <a:p>
                      <a:pPr algn="ctr">
                        <a:spcBef>
                          <a:spcPts val="0"/>
                        </a:spcBef>
                        <a:spcAft>
                          <a:spcPts val="0"/>
                        </a:spcAft>
                        <a:defRPr sz="1550" b="1">
                          <a:solidFill>
                            <a:srgbClr val="FFFFFF"/>
                          </a:solidFill>
                          <a:latin typeface="Aptos"/>
                        </a:defRPr>
                      </a:pPr>
                      <a:r>
                        <a:t>GPT-4o score</a:t>
                      </a:r>
                    </a:p>
                  </a:txBody>
                  <a:tcPr marL="118872" marR="118872" marT="45720" marB="45720" anchor="ctr">
                    <a:solidFill>
                      <a:srgbClr val="2563EB"/>
                    </a:solidFill>
                  </a:tcPr>
                </a:tc>
                <a:tc>
                  <a:txBody>
                    <a:bodyPr/>
                    <a:lstStyle/>
                    <a:p>
                      <a:pPr algn="ctr">
                        <a:spcBef>
                          <a:spcPts val="0"/>
                        </a:spcBef>
                        <a:spcAft>
                          <a:spcPts val="0"/>
                        </a:spcAft>
                        <a:defRPr sz="1550" b="1">
                          <a:solidFill>
                            <a:srgbClr val="FFFFFF"/>
                          </a:solidFill>
                          <a:latin typeface="Aptos"/>
                        </a:defRPr>
                      </a:pPr>
                      <a:r>
                        <a:t>JEV score</a:t>
                      </a:r>
                    </a:p>
                  </a:txBody>
                  <a:tcPr marL="118872" marR="118872" marT="45720" marB="45720" anchor="ctr">
                    <a:solidFill>
                      <a:srgbClr val="2563EB"/>
                    </a:solidFill>
                  </a:tcPr>
                </a:tc>
              </a:tr>
              <a:tr h="429768">
                <a:tc>
                  <a:txBody>
                    <a:bodyPr/>
                    <a:lstStyle/>
                    <a:p>
                      <a:pPr algn="ctr">
                        <a:spcBef>
                          <a:spcPts val="0"/>
                        </a:spcBef>
                        <a:spcAft>
                          <a:spcPts val="0"/>
                        </a:spcAft>
                        <a:defRPr sz="1550" b="1">
                          <a:solidFill>
                            <a:srgbClr val="17212B"/>
                          </a:solidFill>
                          <a:latin typeface="Aptos"/>
                        </a:defRPr>
                      </a:pPr>
                      <a:r>
                        <a:t>0.67 / not flagged</a:t>
                      </a:r>
                    </a:p>
                  </a:txBody>
                  <a:tcPr marL="118872" marR="118872" marT="45720" marB="45720" anchor="ctr">
                    <a:solidFill>
                      <a:srgbClr val="FFFFFF"/>
                    </a:solidFill>
                  </a:tcPr>
                </a:tc>
                <a:tc>
                  <a:txBody>
                    <a:bodyPr/>
                    <a:lstStyle/>
                    <a:p>
                      <a:pPr algn="ctr">
                        <a:spcBef>
                          <a:spcPts val="0"/>
                        </a:spcBef>
                        <a:spcAft>
                          <a:spcPts val="0"/>
                        </a:spcAft>
                        <a:defRPr sz="1550" b="0">
                          <a:solidFill>
                            <a:srgbClr val="17212B"/>
                          </a:solidFill>
                          <a:latin typeface="Aptos"/>
                        </a:defRPr>
                      </a:pPr>
                      <a:r>
                        <a:t>0.33 / flagged</a:t>
                      </a:r>
                    </a:p>
                  </a:txBody>
                  <a:tcPr marL="118872" marR="118872" marT="45720" marB="45720" anchor="ctr">
                    <a:solidFill>
                      <a:srgbClr val="EDF8F5"/>
                    </a:solidFill>
                  </a:tcPr>
                </a:tc>
              </a:tr>
            </a:tbl>
          </a:graphicData>
        </a:graphic>
      </p:graphicFrame>
      <p:sp>
        <p:nvSpPr>
          <p:cNvPr id="18" name="TextBox 17"/>
          <p:cNvSpPr txBox="1"/>
          <p:nvPr/>
        </p:nvSpPr>
        <p:spPr>
          <a:xfrm>
            <a:off x="658368" y="5605272"/>
            <a:ext cx="5125212" cy="246888"/>
          </a:xfrm>
          <a:prstGeom prst="rect">
            <a:avLst/>
          </a:prstGeom>
          <a:noFill/>
        </p:spPr>
        <p:txBody>
          <a:bodyPr wrap="square" lIns="0" rIns="0" tIns="0" bIns="0">
            <a:noAutofit/>
          </a:bodyPr>
          <a:lstStyle/>
          <a:p>
            <a:pPr algn="l">
              <a:spcBef>
                <a:spcPts val="0"/>
              </a:spcBef>
              <a:spcAft>
                <a:spcPts val="400"/>
              </a:spcAft>
              <a:defRPr sz="1300" b="1">
                <a:solidFill>
                  <a:srgbClr val="17212B"/>
                </a:solidFill>
                <a:latin typeface="Aptos"/>
              </a:defRPr>
            </a:pPr>
            <a:r>
              <a:t>Reference verdict: unsupported claim; should be flagged.</a:t>
            </a:r>
          </a:p>
        </p:txBody>
      </p:sp>
      <p:sp>
        <p:nvSpPr>
          <p:cNvPr id="19" name="TextBox 18"/>
          <p:cNvSpPr txBox="1"/>
          <p:nvPr/>
        </p:nvSpPr>
        <p:spPr>
          <a:xfrm>
            <a:off x="658368" y="5925312"/>
            <a:ext cx="5125212" cy="384048"/>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JEV flags the wrong limit. GPT's reason spots it, but its score still passes the 0.5 cut-off.</a:t>
            </a:r>
          </a:p>
        </p:txBody>
      </p:sp>
      <p:sp>
        <p:nvSpPr>
          <p:cNvPr id="20" name="Rectangle 19"/>
          <p:cNvSpPr/>
          <p:nvPr/>
        </p:nvSpPr>
        <p:spPr>
          <a:xfrm>
            <a:off x="6277356" y="1828800"/>
            <a:ext cx="5381244" cy="3657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5372" y="1920240"/>
            <a:ext cx="5125212" cy="219456"/>
          </a:xfrm>
          <a:prstGeom prst="rect">
            <a:avLst/>
          </a:prstGeom>
          <a:noFill/>
        </p:spPr>
        <p:txBody>
          <a:bodyPr wrap="square" lIns="0" rIns="0" tIns="0" bIns="0">
            <a:noAutofit/>
          </a:bodyPr>
          <a:lstStyle/>
          <a:p>
            <a:pPr algn="l">
              <a:spcBef>
                <a:spcPts val="0"/>
              </a:spcBef>
              <a:spcAft>
                <a:spcPts val="400"/>
              </a:spcAft>
              <a:defRPr sz="1400" b="1">
                <a:solidFill>
                  <a:srgbClr val="17212B"/>
                </a:solidFill>
                <a:latin typeface="Aptos"/>
              </a:defRPr>
            </a:pPr>
            <a:r>
              <a:t>CASE 09: GPT-4o BETTER ON CORRECTNESS</a:t>
            </a:r>
          </a:p>
        </p:txBody>
      </p:sp>
      <p:sp>
        <p:nvSpPr>
          <p:cNvPr id="22" name="TextBox 21"/>
          <p:cNvSpPr txBox="1"/>
          <p:nvPr/>
        </p:nvSpPr>
        <p:spPr>
          <a:xfrm>
            <a:off x="6405372" y="2340864"/>
            <a:ext cx="5125212" cy="603504"/>
          </a:xfrm>
          <a:prstGeom prst="rect">
            <a:avLst/>
          </a:prstGeom>
          <a:noFill/>
        </p:spPr>
        <p:txBody>
          <a:bodyPr wrap="square" lIns="0" rIns="0" tIns="0" bIns="0">
            <a:noAutofit/>
          </a:bodyPr>
          <a:lstStyle/>
          <a:p>
            <a:pPr algn="l">
              <a:spcBef>
                <a:spcPts val="0"/>
              </a:spcBef>
              <a:spcAft>
                <a:spcPts val="400"/>
              </a:spcAft>
              <a:defRPr sz="1700" b="1">
                <a:solidFill>
                  <a:srgbClr val="17212B"/>
                </a:solidFill>
                <a:latin typeface="Aptos"/>
              </a:defRPr>
            </a:pPr>
            <a:r>
              <a:t>how do i reset my VPN password</a:t>
            </a:r>
          </a:p>
        </p:txBody>
      </p:sp>
      <p:sp>
        <p:nvSpPr>
          <p:cNvPr id="23" name="TextBox 22"/>
          <p:cNvSpPr txBox="1"/>
          <p:nvPr/>
        </p:nvSpPr>
        <p:spPr>
          <a:xfrm>
            <a:off x="6405372" y="3008376"/>
            <a:ext cx="5125212" cy="182880"/>
          </a:xfrm>
          <a:prstGeom prst="rect">
            <a:avLst/>
          </a:prstGeom>
          <a:noFill/>
        </p:spPr>
        <p:txBody>
          <a:bodyPr wrap="square" lIns="0" rIns="0" tIns="0" bIns="0">
            <a:noAutofit/>
          </a:bodyPr>
          <a:lstStyle/>
          <a:p>
            <a:pPr algn="l">
              <a:spcBef>
                <a:spcPts val="0"/>
              </a:spcBef>
              <a:spcAft>
                <a:spcPts val="400"/>
              </a:spcAft>
              <a:defRPr sz="1100" b="1">
                <a:solidFill>
                  <a:srgbClr val="007F78"/>
                </a:solidFill>
                <a:latin typeface="Aptos"/>
              </a:defRPr>
            </a:pPr>
            <a:r>
              <a:t>REFERENCE (CONDENSED)</a:t>
            </a:r>
          </a:p>
        </p:txBody>
      </p:sp>
      <p:sp>
        <p:nvSpPr>
          <p:cNvPr id="24" name="TextBox 23"/>
          <p:cNvSpPr txBox="1"/>
          <p:nvPr/>
        </p:nvSpPr>
        <p:spPr>
          <a:xfrm>
            <a:off x="6405372" y="3246120"/>
            <a:ext cx="5125212" cy="539496"/>
          </a:xfrm>
          <a:prstGeom prst="rect">
            <a:avLst/>
          </a:prstGeom>
          <a:noFill/>
        </p:spPr>
        <p:txBody>
          <a:bodyPr wrap="square" lIns="0" rIns="0" tIns="0" bIns="0">
            <a:noAutofit/>
          </a:bodyPr>
          <a:lstStyle/>
          <a:p>
            <a:pPr algn="l">
              <a:spcBef>
                <a:spcPts val="0"/>
              </a:spcBef>
              <a:spcAft>
                <a:spcPts val="400"/>
              </a:spcAft>
              <a:defRPr sz="1600" b="0">
                <a:solidFill>
                  <a:srgbClr val="17212B"/>
                </a:solidFill>
                <a:latin typeface="Aptos"/>
              </a:defRPr>
            </a:pPr>
            <a:r>
              <a:t>Reset via SSPR + registered-mobile OTP;</a:t>
            </a:r>
          </a:p>
          <a:p>
            <a:pPr algn="l">
              <a:spcBef>
                <a:spcPts val="0"/>
              </a:spcBef>
              <a:spcAft>
                <a:spcPts val="400"/>
              </a:spcAft>
              <a:defRPr sz="1600" b="0">
                <a:solidFill>
                  <a:srgbClr val="17212B"/>
                </a:solidFill>
                <a:latin typeface="Aptos"/>
              </a:defRPr>
            </a:pPr>
            <a:r>
              <a:t>new password syncs to VPN within 15 minutes.</a:t>
            </a:r>
          </a:p>
        </p:txBody>
      </p:sp>
      <p:sp>
        <p:nvSpPr>
          <p:cNvPr id="25" name="TextBox 24"/>
          <p:cNvSpPr txBox="1"/>
          <p:nvPr/>
        </p:nvSpPr>
        <p:spPr>
          <a:xfrm>
            <a:off x="6405372" y="3849624"/>
            <a:ext cx="5125212" cy="182880"/>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ANSWER (CONDENSED)</a:t>
            </a:r>
          </a:p>
        </p:txBody>
      </p:sp>
      <p:sp>
        <p:nvSpPr>
          <p:cNvPr id="26" name="TextBox 25"/>
          <p:cNvSpPr txBox="1"/>
          <p:nvPr/>
        </p:nvSpPr>
        <p:spPr>
          <a:xfrm>
            <a:off x="6405372" y="4087368"/>
            <a:ext cx="5125212" cy="576072"/>
          </a:xfrm>
          <a:prstGeom prst="rect">
            <a:avLst/>
          </a:prstGeom>
          <a:noFill/>
        </p:spPr>
        <p:txBody>
          <a:bodyPr wrap="square" lIns="0" rIns="0" tIns="0" bIns="0">
            <a:noAutofit/>
          </a:bodyPr>
          <a:lstStyle/>
          <a:p>
            <a:pPr algn="l">
              <a:spcBef>
                <a:spcPts val="0"/>
              </a:spcBef>
              <a:spcAft>
                <a:spcPts val="400"/>
              </a:spcAft>
              <a:defRPr sz="1600" b="0">
                <a:solidFill>
                  <a:srgbClr val="17212B"/>
                </a:solidFill>
                <a:latin typeface="Aptos"/>
              </a:defRPr>
            </a:pPr>
            <a:r>
              <a:t>SSPR + mobile OTP; sync in 15 minutes.</a:t>
            </a:r>
          </a:p>
          <a:p>
            <a:pPr algn="l">
              <a:spcBef>
                <a:spcPts val="0"/>
              </a:spcBef>
              <a:spcAft>
                <a:spcPts val="400"/>
              </a:spcAft>
              <a:defRPr sz="1600" b="0">
                <a:solidFill>
                  <a:srgbClr val="17212B"/>
                </a:solidFill>
                <a:latin typeface="Aptos"/>
              </a:defRPr>
            </a:pPr>
            <a:r>
              <a:t>The response also uses rude phrasing.</a:t>
            </a:r>
          </a:p>
        </p:txBody>
      </p:sp>
      <p:graphicFrame>
        <p:nvGraphicFramePr>
          <p:cNvPr id="27" name="Table 26"/>
          <p:cNvGraphicFramePr>
            <a:graphicFrameLocks noGrp="1"/>
          </p:cNvGraphicFramePr>
          <p:nvPr/>
        </p:nvGraphicFramePr>
        <p:xfrm>
          <a:off x="6277356" y="4745736"/>
          <a:ext cx="5381244" cy="749808"/>
        </p:xfrm>
        <a:graphic>
          <a:graphicData uri="http://schemas.openxmlformats.org/drawingml/2006/table">
            <a:tbl>
              <a:tblPr firstRow="1" bandRow="1">
                <a:tableStyleId>{5C22544A-7EE6-4342-B048-85BDC9FD1C3A}</a:tableStyleId>
              </a:tblPr>
              <a:tblGrid>
                <a:gridCol w="2690622"/>
                <a:gridCol w="2690622"/>
              </a:tblGrid>
              <a:tr h="320040">
                <a:tc>
                  <a:txBody>
                    <a:bodyPr/>
                    <a:lstStyle/>
                    <a:p>
                      <a:pPr algn="ctr">
                        <a:spcBef>
                          <a:spcPts val="0"/>
                        </a:spcBef>
                        <a:spcAft>
                          <a:spcPts val="0"/>
                        </a:spcAft>
                        <a:defRPr sz="1550" b="1">
                          <a:solidFill>
                            <a:srgbClr val="FFFFFF"/>
                          </a:solidFill>
                          <a:latin typeface="Aptos"/>
                        </a:defRPr>
                      </a:pPr>
                      <a:r>
                        <a:t>GPT-4o score</a:t>
                      </a:r>
                    </a:p>
                  </a:txBody>
                  <a:tcPr marL="118872" marR="118872" marT="45720" marB="45720" anchor="ctr">
                    <a:solidFill>
                      <a:srgbClr val="2563EB"/>
                    </a:solidFill>
                  </a:tcPr>
                </a:tc>
                <a:tc>
                  <a:txBody>
                    <a:bodyPr/>
                    <a:lstStyle/>
                    <a:p>
                      <a:pPr algn="ctr">
                        <a:spcBef>
                          <a:spcPts val="0"/>
                        </a:spcBef>
                        <a:spcAft>
                          <a:spcPts val="0"/>
                        </a:spcAft>
                        <a:defRPr sz="1550" b="1">
                          <a:solidFill>
                            <a:srgbClr val="FFFFFF"/>
                          </a:solidFill>
                          <a:latin typeface="Aptos"/>
                        </a:defRPr>
                      </a:pPr>
                      <a:r>
                        <a:t>JEV score</a:t>
                      </a:r>
                    </a:p>
                  </a:txBody>
                  <a:tcPr marL="118872" marR="118872" marT="45720" marB="45720" anchor="ctr">
                    <a:solidFill>
                      <a:srgbClr val="2563EB"/>
                    </a:solidFill>
                  </a:tcPr>
                </a:tc>
              </a:tr>
              <a:tr h="429768">
                <a:tc>
                  <a:txBody>
                    <a:bodyPr/>
                    <a:lstStyle/>
                    <a:p>
                      <a:pPr algn="ctr">
                        <a:spcBef>
                          <a:spcPts val="0"/>
                        </a:spcBef>
                        <a:spcAft>
                          <a:spcPts val="0"/>
                        </a:spcAft>
                        <a:defRPr sz="1550" b="1">
                          <a:solidFill>
                            <a:srgbClr val="17212B"/>
                          </a:solidFill>
                          <a:latin typeface="Aptos"/>
                        </a:defRPr>
                      </a:pPr>
                      <a:r>
                        <a:t>1.00 / full match</a:t>
                      </a:r>
                    </a:p>
                  </a:txBody>
                  <a:tcPr marL="118872" marR="118872" marT="45720" marB="45720" anchor="ctr">
                    <a:solidFill>
                      <a:srgbClr val="FFFFFF"/>
                    </a:solidFill>
                  </a:tcPr>
                </a:tc>
                <a:tc>
                  <a:txBody>
                    <a:bodyPr/>
                    <a:lstStyle/>
                    <a:p>
                      <a:pPr algn="ctr">
                        <a:spcBef>
                          <a:spcPts val="0"/>
                        </a:spcBef>
                        <a:spcAft>
                          <a:spcPts val="0"/>
                        </a:spcAft>
                        <a:defRPr sz="1550" b="0">
                          <a:solidFill>
                            <a:srgbClr val="17212B"/>
                          </a:solidFill>
                          <a:latin typeface="Aptos"/>
                        </a:defRPr>
                      </a:pPr>
                      <a:r>
                        <a:t>0.72 / partial</a:t>
                      </a:r>
                    </a:p>
                  </a:txBody>
                  <a:tcPr marL="118872" marR="118872" marT="45720" marB="45720" anchor="ctr">
                    <a:solidFill>
                      <a:srgbClr val="EDF8F5"/>
                    </a:solidFill>
                  </a:tcPr>
                </a:tc>
              </a:tr>
            </a:tbl>
          </a:graphicData>
        </a:graphic>
      </p:graphicFrame>
      <p:sp>
        <p:nvSpPr>
          <p:cNvPr id="28" name="TextBox 27"/>
          <p:cNvSpPr txBox="1"/>
          <p:nvPr/>
        </p:nvSpPr>
        <p:spPr>
          <a:xfrm>
            <a:off x="6405372" y="5605272"/>
            <a:ext cx="5125212" cy="246888"/>
          </a:xfrm>
          <a:prstGeom prst="rect">
            <a:avLst/>
          </a:prstGeom>
          <a:noFill/>
        </p:spPr>
        <p:txBody>
          <a:bodyPr wrap="square" lIns="0" rIns="0" tIns="0" bIns="0">
            <a:noAutofit/>
          </a:bodyPr>
          <a:lstStyle/>
          <a:p>
            <a:pPr algn="l">
              <a:spcBef>
                <a:spcPts val="0"/>
              </a:spcBef>
              <a:spcAft>
                <a:spcPts val="400"/>
              </a:spcAft>
              <a:defRPr sz="1300" b="1">
                <a:solidFill>
                  <a:srgbClr val="17212B"/>
                </a:solidFill>
                <a:latin typeface="Aptos"/>
              </a:defRPr>
            </a:pPr>
            <a:r>
              <a:t>Reference: full factual match; both judges reject the tone.</a:t>
            </a:r>
          </a:p>
        </p:txBody>
      </p:sp>
      <p:sp>
        <p:nvSpPr>
          <p:cNvPr id="29" name="TextBox 28"/>
          <p:cNvSpPr txBox="1"/>
          <p:nvPr/>
        </p:nvSpPr>
        <p:spPr>
          <a:xfrm>
            <a:off x="6405372" y="5925312"/>
            <a:ext cx="5125212" cy="384048"/>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GPT matches the reference grade. JEV falls just below the 0.75 full-match band; confidence is 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Measured economics and reliability</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Sources: comparison workbook / Summary, Latency_Cost and Consistency. USD token estimates; same local test setup.</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07 / 08</a:t>
            </a:r>
          </a:p>
        </p:txBody>
      </p:sp>
      <p:sp>
        <p:nvSpPr>
          <p:cNvPr id="9" name="TextBox 8"/>
          <p:cNvSpPr txBox="1"/>
          <p:nvPr/>
        </p:nvSpPr>
        <p:spPr>
          <a:xfrm>
            <a:off x="530352" y="1353312"/>
            <a:ext cx="11128248" cy="292608"/>
          </a:xfrm>
          <a:prstGeom prst="rect">
            <a:avLst/>
          </a:prstGeom>
          <a:noFill/>
        </p:spPr>
        <p:txBody>
          <a:bodyPr wrap="square" lIns="0" rIns="0" tIns="0" bIns="0">
            <a:noAutofit/>
          </a:bodyPr>
          <a:lstStyle/>
          <a:p>
            <a:pPr algn="l">
              <a:spcBef>
                <a:spcPts val="0"/>
              </a:spcBef>
              <a:spcAft>
                <a:spcPts val="400"/>
              </a:spcAft>
              <a:defRPr sz="1650" b="0">
                <a:solidFill>
                  <a:srgbClr val="526170"/>
                </a:solidFill>
                <a:latin typeface="Aptos"/>
              </a:defRPr>
            </a:pPr>
            <a:r>
              <a:t>35 rows, 2 runs, concurrency 3. Token estimates are not total cost; observed stability is not a service SLA.</a:t>
            </a:r>
          </a:p>
        </p:txBody>
      </p:sp>
      <p:graphicFrame>
        <p:nvGraphicFramePr>
          <p:cNvPr id="10" name="Table 9"/>
          <p:cNvGraphicFramePr>
            <a:graphicFrameLocks noGrp="1"/>
          </p:cNvGraphicFramePr>
          <p:nvPr/>
        </p:nvGraphicFramePr>
        <p:xfrm>
          <a:off x="530352" y="1856231"/>
          <a:ext cx="11128248" cy="3776472"/>
        </p:xfrm>
        <a:graphic>
          <a:graphicData uri="http://schemas.openxmlformats.org/drawingml/2006/table">
            <a:tbl>
              <a:tblPr firstRow="1" bandRow="1">
                <a:tableStyleId>{5C22544A-7EE6-4342-B048-85BDC9FD1C3A}</a:tableStyleId>
              </a:tblPr>
              <a:tblGrid>
                <a:gridCol w="5806440"/>
                <a:gridCol w="2660904"/>
                <a:gridCol w="2660904"/>
              </a:tblGrid>
              <a:tr h="402336">
                <a:tc>
                  <a:txBody>
                    <a:bodyPr/>
                    <a:lstStyle/>
                    <a:p>
                      <a:pPr>
                        <a:spcBef>
                          <a:spcPts val="0"/>
                        </a:spcBef>
                        <a:spcAft>
                          <a:spcPts val="0"/>
                        </a:spcAft>
                        <a:defRPr sz="1600" b="1">
                          <a:solidFill>
                            <a:srgbClr val="FFFFFF"/>
                          </a:solidFill>
                          <a:latin typeface="Aptos"/>
                        </a:defRPr>
                      </a:pPr>
                      <a:r>
                        <a:t>Measure</a:t>
                      </a:r>
                    </a:p>
                  </a:txBody>
                  <a:tcPr marL="118872" marR="118872" marT="45720" marB="45720" anchor="ctr">
                    <a:solidFill>
                      <a:srgbClr val="2563EB"/>
                    </a:solidFill>
                  </a:tcPr>
                </a:tc>
                <a:tc>
                  <a:txBody>
                    <a:bodyPr/>
                    <a:lstStyle/>
                    <a:p>
                      <a:pPr algn="ctr">
                        <a:spcBef>
                          <a:spcPts val="0"/>
                        </a:spcBef>
                        <a:spcAft>
                          <a:spcPts val="0"/>
                        </a:spcAft>
                        <a:defRPr sz="1600" b="1">
                          <a:solidFill>
                            <a:srgbClr val="FFFFFF"/>
                          </a:solidFill>
                          <a:latin typeface="Aptos"/>
                        </a:defRPr>
                      </a:pPr>
                      <a:r>
                        <a:t>GPT-4o judge</a:t>
                      </a:r>
                    </a:p>
                  </a:txBody>
                  <a:tcPr marL="118872" marR="118872" marT="45720" marB="45720" anchor="ctr">
                    <a:solidFill>
                      <a:srgbClr val="2563EB"/>
                    </a:solidFill>
                  </a:tcPr>
                </a:tc>
                <a:tc>
                  <a:txBody>
                    <a:bodyPr/>
                    <a:lstStyle/>
                    <a:p>
                      <a:pPr algn="ctr">
                        <a:spcBef>
                          <a:spcPts val="0"/>
                        </a:spcBef>
                        <a:spcAft>
                          <a:spcPts val="0"/>
                        </a:spcAft>
                        <a:defRPr sz="1600" b="1">
                          <a:solidFill>
                            <a:srgbClr val="FFFFFF"/>
                          </a:solidFill>
                          <a:latin typeface="Aptos"/>
                        </a:defRPr>
                      </a:pPr>
                      <a:r>
                        <a:t>JEV</a:t>
                      </a:r>
                    </a:p>
                  </a:txBody>
                  <a:tcPr marL="118872" marR="118872" marT="45720" marB="45720" anchor="ctr">
                    <a:solidFill>
                      <a:srgbClr val="2563EB"/>
                    </a:solidFill>
                  </a:tcPr>
                </a:tc>
              </a:tr>
              <a:tr h="374904">
                <a:tc>
                  <a:txBody>
                    <a:bodyPr/>
                    <a:lstStyle/>
                    <a:p>
                      <a:pPr>
                        <a:spcBef>
                          <a:spcPts val="0"/>
                        </a:spcBef>
                        <a:spcAft>
                          <a:spcPts val="0"/>
                        </a:spcAft>
                        <a:defRPr sz="1600" b="1">
                          <a:solidFill>
                            <a:srgbClr val="17212B"/>
                          </a:solidFill>
                          <a:latin typeface="Aptos"/>
                        </a:defRPr>
                      </a:pPr>
                      <a:r>
                        <a:t>Cost per 1,000 evaluated rows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$2.228</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$0.046</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Wall time for 35-row dataset</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14.98 s</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4.68 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Dataset throughput</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2.34 rows/s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7.48 rows/s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Median API-call latency</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4.113 s</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0.346 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p95 API-call latency</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5.150 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0.495 s</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Failed calls / total observed (both runs)</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 / 20</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 / 70</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Rows with missing scores / total (both runs)</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 / 70</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 / 70</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Mean per-metric verdict flip rate</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0.48%</a:t>
                      </a:r>
                    </a:p>
                  </a:txBody>
                  <a:tcPr marL="118872" marR="118872" marT="45720" marB="45720" anchor="ctr">
                    <a:solidFill>
                      <a:srgbClr val="F4F6F8"/>
                    </a:solidFill>
                  </a:tcPr>
                </a:tc>
                <a:tc>
                  <a:txBody>
                    <a:bodyPr/>
                    <a:lstStyle/>
                    <a:p>
                      <a:pPr algn="ctr">
                        <a:spcBef>
                          <a:spcPts val="0"/>
                        </a:spcBef>
                        <a:spcAft>
                          <a:spcPts val="0"/>
                        </a:spcAft>
                        <a:defRPr sz="1600" b="0">
                          <a:solidFill>
                            <a:srgbClr val="17212B"/>
                          </a:solidFill>
                          <a:latin typeface="Aptos"/>
                        </a:defRPr>
                      </a:pPr>
                      <a:r>
                        <a:t>0.48%</a:t>
                      </a:r>
                    </a:p>
                  </a:txBody>
                  <a:tcPr marL="118872" marR="118872" marT="45720" marB="45720" anchor="ctr">
                    <a:solidFill>
                      <a:srgbClr val="EDF8F5"/>
                    </a:solidFill>
                  </a:tcPr>
                </a:tc>
              </a:tr>
              <a:tr h="374904">
                <a:tc>
                  <a:txBody>
                    <a:bodyPr/>
                    <a:lstStyle/>
                    <a:p>
                      <a:pPr>
                        <a:spcBef>
                          <a:spcPts val="0"/>
                        </a:spcBef>
                        <a:spcAft>
                          <a:spcPts val="0"/>
                        </a:spcAft>
                        <a:defRPr sz="1600" b="1">
                          <a:solidFill>
                            <a:srgbClr val="17212B"/>
                          </a:solidFill>
                          <a:latin typeface="Aptos"/>
                        </a:defRPr>
                      </a:pPr>
                      <a:r>
                        <a:t>Mean absolute run-to-run score change</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0.0121</a:t>
                      </a:r>
                    </a:p>
                  </a:txBody>
                  <a:tcPr marL="118872" marR="118872" marT="45720" marB="45720" anchor="ctr">
                    <a:solidFill>
                      <a:srgbClr val="FFFFFF"/>
                    </a:solidFill>
                  </a:tcPr>
                </a:tc>
                <a:tc>
                  <a:txBody>
                    <a:bodyPr/>
                    <a:lstStyle/>
                    <a:p>
                      <a:pPr algn="ctr">
                        <a:spcBef>
                          <a:spcPts val="0"/>
                        </a:spcBef>
                        <a:spcAft>
                          <a:spcPts val="0"/>
                        </a:spcAft>
                        <a:defRPr sz="1600" b="0">
                          <a:solidFill>
                            <a:srgbClr val="17212B"/>
                          </a:solidFill>
                          <a:latin typeface="Aptos"/>
                        </a:defRPr>
                      </a:pPr>
                      <a:r>
                        <a:t>0.0056</a:t>
                      </a:r>
                    </a:p>
                  </a:txBody>
                  <a:tcPr marL="118872" marR="118872" marT="45720" marB="45720" anchor="ctr">
                    <a:solidFill>
                      <a:srgbClr val="EDF8F5"/>
                    </a:solidFill>
                  </a:tcPr>
                </a:tc>
              </a:tr>
            </a:tbl>
          </a:graphicData>
        </a:graphic>
      </p:graphicFrame>
      <p:sp>
        <p:nvSpPr>
          <p:cNvPr id="11" name="TextBox 10"/>
          <p:cNvSpPr txBox="1"/>
          <p:nvPr/>
        </p:nvSpPr>
        <p:spPr>
          <a:xfrm>
            <a:off x="530352" y="5779008"/>
            <a:ext cx="11128248" cy="228600"/>
          </a:xfrm>
          <a:prstGeom prst="rect">
            <a:avLst/>
          </a:prstGeom>
          <a:noFill/>
        </p:spPr>
        <p:txBody>
          <a:bodyPr wrap="square" lIns="0" rIns="0" tIns="0" bIns="0">
            <a:noAutofit/>
          </a:bodyPr>
          <a:lstStyle/>
          <a:p>
            <a:pPr algn="l">
              <a:spcBef>
                <a:spcPts val="0"/>
              </a:spcBef>
              <a:spcAft>
                <a:spcPts val="400"/>
              </a:spcAft>
              <a:defRPr sz="1300" b="1">
                <a:solidFill>
                  <a:srgbClr val="8A4B08"/>
                </a:solidFill>
                <a:latin typeface="Aptos"/>
              </a:defRPr>
            </a:pPr>
            <a:r>
              <a:t>Batching differs: GPT-4o uses 5 rows/call + correctness calls; JEV uses 1 row/call. Prefer dataset throughput.</a:t>
            </a:r>
          </a:p>
        </p:txBody>
      </p:sp>
      <p:sp>
        <p:nvSpPr>
          <p:cNvPr id="12" name="TextBox 11"/>
          <p:cNvSpPr txBox="1"/>
          <p:nvPr/>
        </p:nvSpPr>
        <p:spPr>
          <a:xfrm>
            <a:off x="530352" y="6080760"/>
            <a:ext cx="11128248" cy="228600"/>
          </a:xfrm>
          <a:prstGeom prst="rect">
            <a:avLst/>
          </a:prstGeom>
          <a:noFill/>
        </p:spPr>
        <p:txBody>
          <a:bodyPr wrap="square" lIns="0" rIns="0" tIns="0" bIns="0">
            <a:noAutofit/>
          </a:bodyPr>
          <a:lstStyle/>
          <a:p>
            <a:pPr algn="l">
              <a:spcBef>
                <a:spcPts val="0"/>
              </a:spcBef>
              <a:spcAft>
                <a:spcPts val="400"/>
              </a:spcAft>
              <a:defRPr sz="1250" b="0">
                <a:solidFill>
                  <a:srgbClr val="526170"/>
                </a:solidFill>
                <a:latin typeface="Aptos"/>
              </a:defRPr>
            </a:pPr>
            <a:r>
              <a:t>Rates per 1M tokens: GPT-4o $2.50 input / $10 output; JEV $0.042 input / $0 output. No uptime claim.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37744"/>
            <a:ext cx="4114800" cy="219456"/>
          </a:xfrm>
          <a:prstGeom prst="rect">
            <a:avLst/>
          </a:prstGeom>
          <a:noFill/>
        </p:spPr>
        <p:txBody>
          <a:bodyPr wrap="square" lIns="0" rIns="0" tIns="0" bIns="0">
            <a:noAutofit/>
          </a:bodyPr>
          <a:lstStyle/>
          <a:p>
            <a:pPr algn="l">
              <a:spcBef>
                <a:spcPts val="0"/>
              </a:spcBef>
              <a:spcAft>
                <a:spcPts val="400"/>
              </a:spcAft>
              <a:defRPr sz="1100" b="1">
                <a:solidFill>
                  <a:srgbClr val="2563EB"/>
                </a:solidFill>
                <a:latin typeface="Aptos"/>
              </a:defRPr>
            </a:pPr>
            <a:r>
              <a:t>ADI / MODEL EVALUATION</a:t>
            </a:r>
          </a:p>
        </p:txBody>
      </p:sp>
      <p:sp>
        <p:nvSpPr>
          <p:cNvPr id="4" name="TextBox 3"/>
          <p:cNvSpPr txBox="1"/>
          <p:nvPr/>
        </p:nvSpPr>
        <p:spPr>
          <a:xfrm>
            <a:off x="6492240" y="237744"/>
            <a:ext cx="5166360" cy="219456"/>
          </a:xfrm>
          <a:prstGeom prst="rect">
            <a:avLst/>
          </a:prstGeom>
          <a:noFill/>
        </p:spPr>
        <p:txBody>
          <a:bodyPr wrap="square" lIns="0" rIns="0" tIns="0" bIns="0">
            <a:noAutofit/>
          </a:bodyPr>
          <a:lstStyle/>
          <a:p>
            <a:pPr algn="r">
              <a:spcBef>
                <a:spcPts val="0"/>
              </a:spcBef>
              <a:spcAft>
                <a:spcPts val="400"/>
              </a:spcAft>
              <a:defRPr sz="1000" b="0">
                <a:solidFill>
                  <a:srgbClr val="526170"/>
                </a:solidFill>
                <a:latin typeface="Aptos"/>
              </a:defRPr>
            </a:pPr>
            <a:r>
              <a:t>EXPLORATORY ASSESSMENT  |  12 OCT 2026</a:t>
            </a:r>
          </a:p>
        </p:txBody>
      </p:sp>
      <p:sp>
        <p:nvSpPr>
          <p:cNvPr id="5" name="TextBox 4"/>
          <p:cNvSpPr txBox="1"/>
          <p:nvPr/>
        </p:nvSpPr>
        <p:spPr>
          <a:xfrm>
            <a:off x="530352" y="713232"/>
            <a:ext cx="11128248" cy="557784"/>
          </a:xfrm>
          <a:prstGeom prst="rect">
            <a:avLst/>
          </a:prstGeom>
          <a:noFill/>
        </p:spPr>
        <p:txBody>
          <a:bodyPr wrap="square" lIns="0" rIns="0" tIns="0" bIns="0">
            <a:noAutofit/>
          </a:bodyPr>
          <a:lstStyle/>
          <a:p>
            <a:pPr algn="l">
              <a:spcBef>
                <a:spcPts val="0"/>
              </a:spcBef>
              <a:spcAft>
                <a:spcPts val="400"/>
              </a:spcAft>
              <a:defRPr sz="2900" b="1">
                <a:solidFill>
                  <a:srgbClr val="17212B"/>
                </a:solidFill>
                <a:latin typeface="Aptos"/>
              </a:defRPr>
            </a:pPr>
            <a:r>
              <a:t>ADI recommendation: a confidence-gated pilot</a:t>
            </a:r>
          </a:p>
        </p:txBody>
      </p:sp>
      <p:sp>
        <p:nvSpPr>
          <p:cNvPr id="6" name="Rectangle 5"/>
          <p:cNvSpPr/>
          <p:nvPr/>
        </p:nvSpPr>
        <p:spPr>
          <a:xfrm>
            <a:off x="530352" y="6419088"/>
            <a:ext cx="11128248" cy="10972"/>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19672"/>
            <a:ext cx="10287000" cy="182880"/>
          </a:xfrm>
          <a:prstGeom prst="rect">
            <a:avLst/>
          </a:prstGeom>
          <a:noFill/>
        </p:spPr>
        <p:txBody>
          <a:bodyPr wrap="square" lIns="0" rIns="0" tIns="0" bIns="0">
            <a:noAutofit/>
          </a:bodyPr>
          <a:lstStyle/>
          <a:p>
            <a:pPr algn="l">
              <a:spcBef>
                <a:spcPts val="0"/>
              </a:spcBef>
              <a:spcAft>
                <a:spcPts val="400"/>
              </a:spcAft>
              <a:defRPr sz="950" b="0">
                <a:solidFill>
                  <a:srgbClr val="526170"/>
                </a:solidFill>
                <a:latin typeface="Aptos"/>
              </a:defRPr>
            </a:pPr>
            <a:r>
              <a:t>Recommendation, not a measured production architecture. Correctness figures: workbook Summary, 15 applicable cases.</a:t>
            </a:r>
          </a:p>
        </p:txBody>
      </p:sp>
      <p:sp>
        <p:nvSpPr>
          <p:cNvPr id="8" name="TextBox 7"/>
          <p:cNvSpPr txBox="1"/>
          <p:nvPr/>
        </p:nvSpPr>
        <p:spPr>
          <a:xfrm>
            <a:off x="10972800" y="6492240"/>
            <a:ext cx="685800" cy="228600"/>
          </a:xfrm>
          <a:prstGeom prst="rect">
            <a:avLst/>
          </a:prstGeom>
          <a:noFill/>
        </p:spPr>
        <p:txBody>
          <a:bodyPr wrap="square" lIns="0" rIns="0" tIns="0" bIns="0">
            <a:noAutofit/>
          </a:bodyPr>
          <a:lstStyle/>
          <a:p>
            <a:pPr algn="r">
              <a:spcBef>
                <a:spcPts val="0"/>
              </a:spcBef>
              <a:spcAft>
                <a:spcPts val="400"/>
              </a:spcAft>
              <a:defRPr sz="1100" b="1">
                <a:solidFill>
                  <a:srgbClr val="2563EB"/>
                </a:solidFill>
                <a:latin typeface="Aptos"/>
              </a:defRPr>
            </a:pPr>
            <a:r>
              <a:t>08 / 08</a:t>
            </a:r>
          </a:p>
        </p:txBody>
      </p:sp>
      <p:sp>
        <p:nvSpPr>
          <p:cNvPr id="9" name="TextBox 8"/>
          <p:cNvSpPr txBox="1"/>
          <p:nvPr/>
        </p:nvSpPr>
        <p:spPr>
          <a:xfrm>
            <a:off x="530352" y="1371600"/>
            <a:ext cx="11128248" cy="384048"/>
          </a:xfrm>
          <a:prstGeom prst="rect">
            <a:avLst/>
          </a:prstGeom>
          <a:noFill/>
        </p:spPr>
        <p:txBody>
          <a:bodyPr wrap="square" lIns="0" rIns="0" tIns="0" bIns="0">
            <a:noAutofit/>
          </a:bodyPr>
          <a:lstStyle/>
          <a:p>
            <a:pPr algn="l">
              <a:spcBef>
                <a:spcPts val="0"/>
              </a:spcBef>
              <a:spcAft>
                <a:spcPts val="400"/>
              </a:spcAft>
              <a:defRPr sz="2300" b="1">
                <a:solidFill>
                  <a:srgbClr val="2563EB"/>
                </a:solidFill>
                <a:latin typeface="Aptos"/>
              </a:defRPr>
            </a:pPr>
            <a:r>
              <a:t>Approve validation, not replacement.</a:t>
            </a:r>
          </a:p>
        </p:txBody>
      </p:sp>
      <p:sp>
        <p:nvSpPr>
          <p:cNvPr id="10" name="Rectangle 9"/>
          <p:cNvSpPr/>
          <p:nvPr/>
        </p:nvSpPr>
        <p:spPr>
          <a:xfrm>
            <a:off x="530352" y="2011680"/>
            <a:ext cx="2944368" cy="786384"/>
          </a:xfrm>
          <a:prstGeom prst="rect">
            <a:avLst/>
          </a:prstGeom>
          <a:solidFill>
            <a:srgbClr val="ED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130552"/>
            <a:ext cx="2706624" cy="548640"/>
          </a:xfrm>
          <a:prstGeom prst="rect">
            <a:avLst/>
          </a:prstGeom>
          <a:noFill/>
        </p:spPr>
        <p:txBody>
          <a:bodyPr wrap="square" lIns="0" rIns="0" tIns="0" bIns="0" anchor="ctr">
            <a:noAutofit/>
          </a:bodyPr>
          <a:lstStyle/>
          <a:p>
            <a:pPr algn="ctr">
              <a:spcBef>
                <a:spcPts val="0"/>
              </a:spcBef>
              <a:spcAft>
                <a:spcPts val="400"/>
              </a:spcAft>
              <a:defRPr sz="1700" b="1">
                <a:solidFill>
                  <a:srgbClr val="17212B"/>
                </a:solidFill>
                <a:latin typeface="Aptos"/>
              </a:defRPr>
            </a:pPr>
            <a:r>
              <a:t>JEV routine screening</a:t>
            </a:r>
          </a:p>
        </p:txBody>
      </p:sp>
      <p:sp>
        <p:nvSpPr>
          <p:cNvPr id="12" name="Rectangle 11"/>
          <p:cNvSpPr/>
          <p:nvPr/>
        </p:nvSpPr>
        <p:spPr>
          <a:xfrm>
            <a:off x="3767328" y="2011680"/>
            <a:ext cx="4315968" cy="786384"/>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2130552"/>
            <a:ext cx="4078224" cy="548640"/>
          </a:xfrm>
          <a:prstGeom prst="rect">
            <a:avLst/>
          </a:prstGeom>
          <a:noFill/>
        </p:spPr>
        <p:txBody>
          <a:bodyPr wrap="square" lIns="0" rIns="0" tIns="0" bIns="0" anchor="ctr">
            <a:noAutofit/>
          </a:bodyPr>
          <a:lstStyle/>
          <a:p>
            <a:pPr algn="ctr">
              <a:spcBef>
                <a:spcPts val="0"/>
              </a:spcBef>
              <a:spcAft>
                <a:spcPts val="400"/>
              </a:spcAft>
              <a:defRPr sz="1700" b="1">
                <a:solidFill>
                  <a:srgbClr val="17212B"/>
                </a:solidFill>
                <a:latin typeface="Aptos"/>
              </a:defRPr>
            </a:pPr>
            <a:r>
              <a:t>Low confidence / disagreement / high risk</a:t>
            </a:r>
          </a:p>
        </p:txBody>
      </p:sp>
      <p:sp>
        <p:nvSpPr>
          <p:cNvPr id="14" name="Rectangle 13"/>
          <p:cNvSpPr/>
          <p:nvPr/>
        </p:nvSpPr>
        <p:spPr>
          <a:xfrm>
            <a:off x="8375904" y="2011680"/>
            <a:ext cx="3282696" cy="786384"/>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94776" y="2130552"/>
            <a:ext cx="3044952" cy="548640"/>
          </a:xfrm>
          <a:prstGeom prst="rect">
            <a:avLst/>
          </a:prstGeom>
          <a:noFill/>
        </p:spPr>
        <p:txBody>
          <a:bodyPr wrap="square" lIns="0" rIns="0" tIns="0" bIns="0" anchor="ctr">
            <a:noAutofit/>
          </a:bodyPr>
          <a:lstStyle/>
          <a:p>
            <a:pPr algn="ctr">
              <a:spcBef>
                <a:spcPts val="0"/>
              </a:spcBef>
              <a:spcAft>
                <a:spcPts val="400"/>
              </a:spcAft>
              <a:defRPr sz="1700" b="1">
                <a:solidFill>
                  <a:srgbClr val="17212B"/>
                </a:solidFill>
                <a:latin typeface="Aptos"/>
              </a:defRPr>
            </a:pPr>
            <a:r>
              <a:t>GPT-4o or SME review</a:t>
            </a:r>
          </a:p>
        </p:txBody>
      </p:sp>
      <p:sp>
        <p:nvSpPr>
          <p:cNvPr id="16" name="Chevron 15"/>
          <p:cNvSpPr/>
          <p:nvPr/>
        </p:nvSpPr>
        <p:spPr>
          <a:xfrm>
            <a:off x="3538728" y="2295144"/>
            <a:ext cx="146304" cy="219456"/>
          </a:xfrm>
          <a:prstGeom prst="chevron">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evron 16"/>
          <p:cNvSpPr/>
          <p:nvPr/>
        </p:nvSpPr>
        <p:spPr>
          <a:xfrm>
            <a:off x="8147304" y="2295144"/>
            <a:ext cx="146304" cy="219456"/>
          </a:xfrm>
          <a:prstGeom prst="chevron">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530352" y="2962656"/>
          <a:ext cx="11128247" cy="2587752"/>
        </p:xfrm>
        <a:graphic>
          <a:graphicData uri="http://schemas.openxmlformats.org/drawingml/2006/table">
            <a:tbl>
              <a:tblPr firstRow="1" bandRow="1">
                <a:tableStyleId>{5C22544A-7EE6-4342-B048-85BDC9FD1C3A}</a:tableStyleId>
              </a:tblPr>
              <a:tblGrid>
                <a:gridCol w="1892807"/>
                <a:gridCol w="4736592"/>
                <a:gridCol w="4498848"/>
              </a:tblGrid>
              <a:tr h="420624">
                <a:tc>
                  <a:txBody>
                    <a:bodyPr/>
                    <a:lstStyle/>
                    <a:p>
                      <a:pPr>
                        <a:spcBef>
                          <a:spcPts val="0"/>
                        </a:spcBef>
                        <a:spcAft>
                          <a:spcPts val="0"/>
                        </a:spcAft>
                        <a:defRPr sz="1600" b="1">
                          <a:solidFill>
                            <a:srgbClr val="FFFFFF"/>
                          </a:solidFill>
                          <a:latin typeface="Aptos"/>
                        </a:defRPr>
                      </a:pPr>
                      <a:r>
                        <a:t>Phase</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Recommended action</a:t>
                      </a:r>
                    </a:p>
                  </a:txBody>
                  <a:tcPr marL="118872" marR="118872" marT="45720" marB="45720" anchor="ctr">
                    <a:solidFill>
                      <a:srgbClr val="2563EB"/>
                    </a:solidFill>
                  </a:tcPr>
                </a:tc>
                <a:tc>
                  <a:txBody>
                    <a:bodyPr/>
                    <a:lstStyle/>
                    <a:p>
                      <a:pPr>
                        <a:spcBef>
                          <a:spcPts val="0"/>
                        </a:spcBef>
                        <a:spcAft>
                          <a:spcPts val="0"/>
                        </a:spcAft>
                        <a:defRPr sz="1600" b="1">
                          <a:solidFill>
                            <a:srgbClr val="FFFFFF"/>
                          </a:solidFill>
                          <a:latin typeface="Aptos"/>
                        </a:defRPr>
                      </a:pPr>
                      <a:r>
                        <a:t>Decision evidence</a:t>
                      </a:r>
                    </a:p>
                  </a:txBody>
                  <a:tcPr marL="118872" marR="118872" marT="45720" marB="45720" anchor="ctr">
                    <a:solidFill>
                      <a:srgbClr val="2563EB"/>
                    </a:solidFill>
                  </a:tcPr>
                </a:tc>
              </a:tr>
              <a:tr h="722376">
                <a:tc>
                  <a:txBody>
                    <a:bodyPr/>
                    <a:lstStyle/>
                    <a:p>
                      <a:pPr>
                        <a:spcBef>
                          <a:spcPts val="0"/>
                        </a:spcBef>
                        <a:spcAft>
                          <a:spcPts val="0"/>
                        </a:spcAft>
                        <a:defRPr sz="1600" b="1">
                          <a:solidFill>
                            <a:srgbClr val="17212B"/>
                          </a:solidFill>
                          <a:latin typeface="Aptos"/>
                        </a:defRPr>
                      </a:pPr>
                      <a:r>
                        <a:t>1. Shadow test</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500+ de-identified, independently SME-labelled</a:t>
                      </a:r>
                    </a:p>
                    <a:p>
                      <a:pPr>
                        <a:spcBef>
                          <a:spcPts val="0"/>
                        </a:spcBef>
                        <a:spcAft>
                          <a:spcPts val="0"/>
                        </a:spcAft>
                        <a:defRPr sz="1600" b="0">
                          <a:solidFill>
                            <a:srgbClr val="17212B"/>
                          </a:solidFill>
                          <a:latin typeface="Aptos"/>
                        </a:defRPr>
                      </a:pPr>
                      <a:r>
                        <a:t>cases; include numbers, refusals and Hinglish.</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Failure recall, correctness, latency;</a:t>
                      </a:r>
                    </a:p>
                    <a:p>
                      <a:pPr>
                        <a:spcBef>
                          <a:spcPts val="0"/>
                        </a:spcBef>
                        <a:spcAft>
                          <a:spcPts val="0"/>
                        </a:spcAft>
                        <a:defRPr sz="1600" b="0">
                          <a:solidFill>
                            <a:srgbClr val="17212B"/>
                          </a:solidFill>
                          <a:latin typeface="Aptos"/>
                        </a:defRPr>
                      </a:pPr>
                      <a:r>
                        <a:t>confidence slices and vendor data controls.</a:t>
                      </a:r>
                    </a:p>
                  </a:txBody>
                  <a:tcPr marL="118872" marR="118872" marT="45720" marB="45720" anchor="ctr">
                    <a:solidFill>
                      <a:srgbClr val="EDF8F5"/>
                    </a:solidFill>
                  </a:tcPr>
                </a:tc>
              </a:tr>
              <a:tr h="722376">
                <a:tc>
                  <a:txBody>
                    <a:bodyPr/>
                    <a:lstStyle/>
                    <a:p>
                      <a:pPr>
                        <a:spcBef>
                          <a:spcPts val="0"/>
                        </a:spcBef>
                        <a:spcAft>
                          <a:spcPts val="0"/>
                        </a:spcAft>
                        <a:defRPr sz="1600" b="1">
                          <a:solidFill>
                            <a:srgbClr val="17212B"/>
                          </a:solidFill>
                          <a:latin typeface="Aptos"/>
                        </a:defRPr>
                      </a:pPr>
                      <a:r>
                        <a:t>2. Bounded pilot</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Start with routine quality scoring;</a:t>
                      </a:r>
                    </a:p>
                    <a:p>
                      <a:pPr>
                        <a:spcBef>
                          <a:spcPts val="0"/>
                        </a:spcBef>
                        <a:spcAft>
                          <a:spcPts val="0"/>
                        </a:spcAft>
                        <a:defRPr sz="1600" b="0">
                          <a:solidFill>
                            <a:srgbClr val="17212B"/>
                          </a:solidFill>
                          <a:latin typeface="Aptos"/>
                        </a:defRPr>
                      </a:pPr>
                      <a:r>
                        <a:t>keep high-risk answers in the escalation path.</a:t>
                      </a:r>
                    </a:p>
                  </a:txBody>
                  <a:tcPr marL="118872" marR="118872" marT="45720" marB="45720" anchor="ctr">
                    <a:solidFill>
                      <a:srgbClr val="F4F6F8"/>
                    </a:solidFill>
                  </a:tcPr>
                </a:tc>
                <a:tc>
                  <a:txBody>
                    <a:bodyPr/>
                    <a:lstStyle/>
                    <a:p>
                      <a:pPr>
                        <a:spcBef>
                          <a:spcPts val="0"/>
                        </a:spcBef>
                        <a:spcAft>
                          <a:spcPts val="0"/>
                        </a:spcAft>
                        <a:defRPr sz="1600" b="0">
                          <a:solidFill>
                            <a:srgbClr val="17212B"/>
                          </a:solidFill>
                          <a:latin typeface="Aptos"/>
                        </a:defRPr>
                      </a:pPr>
                      <a:r>
                        <a:t>Calibrate score / confidence cut-offs;</a:t>
                      </a:r>
                    </a:p>
                    <a:p>
                      <a:pPr>
                        <a:spcBef>
                          <a:spcPts val="0"/>
                        </a:spcBef>
                        <a:spcAft>
                          <a:spcPts val="0"/>
                        </a:spcAft>
                        <a:defRPr sz="1600" b="0">
                          <a:solidFill>
                            <a:srgbClr val="17212B"/>
                          </a:solidFill>
                          <a:latin typeface="Aptos"/>
                        </a:defRPr>
                      </a:pPr>
                      <a:r>
                        <a:t>retain audit logs and monitor drift.</a:t>
                      </a:r>
                    </a:p>
                  </a:txBody>
                  <a:tcPr marL="118872" marR="118872" marT="45720" marB="45720" anchor="ctr">
                    <a:solidFill>
                      <a:srgbClr val="EDF8F5"/>
                    </a:solidFill>
                  </a:tcPr>
                </a:tc>
              </a:tr>
              <a:tr h="722376">
                <a:tc>
                  <a:txBody>
                    <a:bodyPr/>
                    <a:lstStyle/>
                    <a:p>
                      <a:pPr>
                        <a:spcBef>
                          <a:spcPts val="0"/>
                        </a:spcBef>
                        <a:spcAft>
                          <a:spcPts val="0"/>
                        </a:spcAft>
                        <a:defRPr sz="1600" b="1">
                          <a:solidFill>
                            <a:srgbClr val="17212B"/>
                          </a:solidFill>
                          <a:latin typeface="Aptos"/>
                        </a:defRPr>
                      </a:pPr>
                      <a:r>
                        <a:t>3. Compare options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Test GPT-4o-mini + named SLMs on the same</a:t>
                      </a:r>
                    </a:p>
                    <a:p>
                      <a:pPr>
                        <a:spcBef>
                          <a:spcPts val="0"/>
                        </a:spcBef>
                        <a:spcAft>
                          <a:spcPts val="0"/>
                        </a:spcAft>
                        <a:defRPr sz="1600" b="0">
                          <a:solidFill>
                            <a:srgbClr val="17212B"/>
                          </a:solidFill>
                          <a:latin typeface="Aptos"/>
                        </a:defRPr>
                      </a:pPr>
                      <a:r>
                        <a:t>data, task definitions and operating budgets.</a:t>
                      </a:r>
                    </a:p>
                  </a:txBody>
                  <a:tcPr marL="118872" marR="118872" marT="45720" marB="45720" anchor="ctr">
                    <a:solidFill>
                      <a:srgbClr val="FFFFFF"/>
                    </a:solidFill>
                  </a:tcPr>
                </a:tc>
                <a:tc>
                  <a:txBody>
                    <a:bodyPr/>
                    <a:lstStyle/>
                    <a:p>
                      <a:pPr>
                        <a:spcBef>
                          <a:spcPts val="0"/>
                        </a:spcBef>
                        <a:spcAft>
                          <a:spcPts val="0"/>
                        </a:spcAft>
                        <a:defRPr sz="1600" b="0">
                          <a:solidFill>
                            <a:srgbClr val="17212B"/>
                          </a:solidFill>
                          <a:latin typeface="Aptos"/>
                        </a:defRPr>
                      </a:pPr>
                      <a:r>
                        <a:t>Per-metric recall, explanations, privacy,</a:t>
                      </a:r>
                    </a:p>
                    <a:p>
                      <a:pPr>
                        <a:spcBef>
                          <a:spcPts val="0"/>
                        </a:spcBef>
                        <a:spcAft>
                          <a:spcPts val="0"/>
                        </a:spcAft>
                        <a:defRPr sz="1600" b="0">
                          <a:solidFill>
                            <a:srgbClr val="17212B"/>
                          </a:solidFill>
                          <a:latin typeface="Aptos"/>
                        </a:defRPr>
                      </a:pPr>
                      <a:r>
                        <a:t>hosting, availability and total cost.</a:t>
                      </a:r>
                    </a:p>
                  </a:txBody>
                  <a:tcPr marL="118872" marR="118872" marT="45720" marB="45720" anchor="ctr">
                    <a:solidFill>
                      <a:srgbClr val="EDF8F5"/>
                    </a:solidFill>
                  </a:tcPr>
                </a:tc>
              </a:tr>
            </a:tbl>
          </a:graphicData>
        </a:graphic>
      </p:graphicFrame>
      <p:sp>
        <p:nvSpPr>
          <p:cNvPr id="19" name="TextBox 18"/>
          <p:cNvSpPr txBox="1"/>
          <p:nvPr/>
        </p:nvSpPr>
        <p:spPr>
          <a:xfrm>
            <a:off x="530352" y="5769864"/>
            <a:ext cx="11128248" cy="576072"/>
          </a:xfrm>
          <a:prstGeom prst="rect">
            <a:avLst/>
          </a:prstGeom>
          <a:noFill/>
        </p:spPr>
        <p:txBody>
          <a:bodyPr wrap="square" lIns="0" rIns="0" tIns="0" bIns="0">
            <a:noAutofit/>
          </a:bodyPr>
          <a:lstStyle/>
          <a:p>
            <a:pPr algn="l">
              <a:spcBef>
                <a:spcPts val="0"/>
              </a:spcBef>
              <a:spcAft>
                <a:spcPts val="400"/>
              </a:spcAft>
              <a:defRPr sz="1550" b="1">
                <a:solidFill>
                  <a:srgbClr val="8A4B08"/>
                </a:solidFill>
                <a:latin typeface="Aptos"/>
              </a:defRPr>
            </a:pPr>
            <a:r>
              <a:t>Retain GPT-4o for difficult correctness review: 80.0% vs JEV 73.3% band accuracy</a:t>
            </a:r>
          </a:p>
          <a:p>
            <a:pPr algn="l">
              <a:spcBef>
                <a:spcPts val="0"/>
              </a:spcBef>
              <a:spcAft>
                <a:spcPts val="400"/>
              </a:spcAft>
              <a:defRPr sz="1550" b="1">
                <a:solidFill>
                  <a:srgbClr val="8A4B08"/>
                </a:solidFill>
                <a:latin typeface="Aptos"/>
              </a:defRPr>
            </a:pPr>
            <a:r>
              <a:t>on 15 applicable synthetic cases. Human review remains necessary for high-risk banking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ADI: JEV as an exploratory evaluation alternative</dc:title>
  <dc:subject>Leadership review of the saved JEV vs GPT-4o judge benchmark</dc:subject>
  <dc:creator>ADI</dc:creator>
  <cp:keywords>ADI, JEV, GPT-4o, evaluation, exploratory benchmark</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